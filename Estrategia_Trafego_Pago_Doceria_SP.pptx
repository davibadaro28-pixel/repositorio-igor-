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8fdca2f-c693-9902-ad17-f7aa65294c73}">
          <p14:sldIdLst>
            <p14:sldId id="256"/>
            <p14:sldId id="257"/>
          </p14:sldIdLst>
        </p14:section>
        <p14:section name="Diagnóstico" id="{552c5c75-14a1-3859-79d0-25b357657e46}">
          <p14:sldIdLst>
            <p14:sldId id="258"/>
            <p14:sldId id="259"/>
          </p14:sldIdLst>
        </p14:section>
        <p14:section name="Estratégia" id="{6f396492-4818-518a-cb02-f81504db6f6a}">
          <p14:sldIdLst>
            <p14:sldId id="260"/>
            <p14:sldId id="261"/>
            <p14:sldId id="262"/>
            <p14:sldId id="263"/>
          </p14:sldIdLst>
        </p14:section>
        <p14:section name="Execução" id="{c667cff2-971f-8660-ac6d-fe63d4bb7550}">
          <p14:sldIdLst>
            <p14:sldId id="264"/>
            <p14:sldId id="265"/>
            <p14:sldId id="266"/>
          </p14:sldIdLst>
        </p14:section>
        <p14:section name="Métricas e próximos passos" id="{4a56b4f1-ac3b-0a54-a1ed-16fe3633a1bc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da verba</c:v>
                </c:pt>
              </c:strCache>
            </c:strRef>
          </c:tx>
          <c:spPr>
            <a:solidFill>
              <a:srgbClr val="C2255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10h–13h</c:v>
                  </c:pt>
                  <c:pt idx="1">
                    <c:v>13h–17h</c:v>
                  </c:pt>
                  <c:pt idx="2">
                    <c:v>17h–20h</c:v>
                  </c:pt>
                  <c:pt idx="3">
                    <c:v>20h–23h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0.15</c:v>
                </c:pt>
                <c:pt idx="1">
                  <c:v>0.3</c:v>
                </c:pt>
                <c:pt idx="2">
                  <c:v>0.2</c:v>
                </c:pt>
                <c:pt idx="3">
                  <c:v>0.35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Verba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255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5E3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4B6C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Meta Ads</c:v>
                </c:pt>
                <c:pt idx="1">
                  <c:v>Google Ads</c:v>
                </c:pt>
                <c:pt idx="2">
                  <c:v>iFood Ads</c:v>
                </c:pt>
                <c:pt idx="3">
                  <c:v>Remarketing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 proposta é um plano prático de tráfego pago para uma doceria em São Paulo, com execução em 90 dias. Os valores são referências de mercado e devem ser recalibrados com os dados reais da conta após as primeiras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 estratégia: quatro frentes com papéis diferentes. Meta Ads cria desejo (45% da verba), Google captura quem já busca (25%), iFood Ads aparece na hora do pedido (15%) e remarketing recupera quem não converteu (15%). A meta de ROAS 3x significa R$ 3 de faturamento para cada R$ 1 investido.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doceria é negócio de impulso, local e sazonal. Isso define três decisões da estratégia: criativo visual em vídeo, segmentação geográfica curta e calendário de campanhas por data comemorativa. O raio de 3 a 6 km é ponto de partida; o ideal é cruzar com os CEPs dos pedidos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Públicos por ocasião: cada um tem produto, canal e mensagem próprios. Desejo do dia é volume e recorrência; presente e festa têm ticket maior; corporativo tem pedidos grandes e sazonais (fim de ano). Crie um conjunto de anúncios por público para comparar o custo por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Funil: no topo, o objetivo é ser visto por muita gente do raio com vídeo curto; no meio, levar quem demonstrou interesse a conversar ou conhecer o cardápio; no fundo, converter em pedido com oferta clara. Retenção de 3 s (hook rate) é a métrica que diz se o começo do vídeo prende a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de cada canal. No Meta, prefira campanhas de Vendas (se houver site ou cardápio com pixel) ou de Mensagens para o WhatsApp. No Google, comece com palavras-chave de intenção local e de encomenda. O Perfil da Empresa no Google precisa estar completo antes de investir em Maps. No iFood, concentre a verba nos horários de pico da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Geografia e horário: use raios diferentes por objetivo. Delivery e impulso no raio curto; encomendas de festa e corporativo aceitam distância maior porque são planejadas. A distribuição por horário é um ponto de partida (tarde para o café e noite para a sobremesa) e deve ser ajustada com o relatório por hora do Gerenciador de Anúncios e do iFood. Os bairros citados são exemplos: use os que estão ao redor da sua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Verba: a divisão percentual vale para qualquer cenário; os valores em reais da legenda usam o cenário de R$ 3.000 por mês como exemplo. No cenário inicial, se a verba for apertada, priorize Meta e Google Pesquisa e deixe o iFood para o mês 2. Aumentos bruscos de verba reiniciam o aprendizado do algoritmo; por isso a regra de no máximo 20% a cada 3–4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Criativos: formato vertical 9:16, 7 a 15 segundos, luz natural e som ambiente. Grave vários ganchos para o mesmo vídeo e teste qual retém mais. Pause criativos com retenção de 3 s abaixo de 20% depois de cerca de R$ 50 gastos. Peça autorização aos clientes antes de usar vídeos e depoimentos.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Calendário: Páscoa e Natal são os maiores picos para doceria e pedem planejamento de produção e encomendas antecipadas. Para as próximas datas: Black Friday em 27/11/2026, Natal em dezembro e Páscoa 2027 em 28/03. Em cada data, suba campanhas de pré-venda 2 a 3 semanas antes e aumente a verba de 30% a 50% na semana do pico.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de 90 dias: o mês 1 é de fundação, sem rastreamento correto não dá para otimizar. O mês 2 corta o que não funciona e liga o remarketing. O mês 3 escala o que provou retorno e conecta a estratégia ao calendário sazonal. Revise os números toda segunda-feira e registre as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Métricas: CPM, CTR e retenção mostram se o criativo funciona; custo por conversa e CPA mostram se o tráfego vira venda; ROAS mostra se o investimento se paga. Exemplo: com ticket médio de R$ 80, o CPA máximo seria em torno de R$ 24. As faixas de CPM vêm de benchmarks publicados por agências brasileiras para alimentação e delivery e servem apenas como ordem de grandeza.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comuns: o botão Impulsionar tem menos controle de público e de objetivo do que o Gerenciador de Anúncios. Mudanças diárias reiniciam o aprendizado e encarecem os resultados. Sem rastrear a origem dos pedidos (cupom por canal, links com UTM, pergunta no atendimento do WhatsApp), não há como saber qual canal escalar.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quatro passos para começar ainda esta semana. Como estamos em outubro, a primeira campanha sazonal relevante é a Black Friday (27/11), seguida do Natal. A Páscoa 2027 cai em 28 de março, então a pré-venda de ovos deve começar em fevereiro.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76656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Tráfego pago · Doceria em São Paulo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ESTRATÉGIA 2026 · PLANO DE 90 DIAS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Tráfego pago para doceria em São Paulo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Canais, públicos, verba, criativos e metas para transformar desejo em pedido</a:t>
            </a:r>
            <a:endParaRPr lang="en-US" sz="2000" dirty="0"/>
          </a:p>
        </p:txBody>
      </p:sp>
      <p:sp>
        <p:nvSpPr>
          <p:cNvPr id="5" name="Cupcake - círculo"/>
          <p:cNvSpPr/>
          <p:nvPr/>
        </p:nvSpPr>
        <p:spPr>
          <a:xfrm>
            <a:off x="8001000" y="1325880"/>
            <a:ext cx="3383280" cy="3383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upcake - ícone" descr="Cupc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2987" y="2137867"/>
            <a:ext cx="1759306" cy="1759306"/>
          </a:xfrm>
          <a:prstGeom prst="rect">
            <a:avLst/>
          </a:prstGeom>
        </p:spPr>
      </p:pic>
      <p:sp>
        <p:nvSpPr>
          <p:cNvPr id="7" name="Coração - círculo"/>
          <p:cNvSpPr/>
          <p:nvPr/>
        </p:nvSpPr>
        <p:spPr>
          <a:xfrm>
            <a:off x="10378440" y="4160520"/>
            <a:ext cx="1234440" cy="12344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Coração - ícone" descr="Cor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706" y="4456786"/>
            <a:ext cx="641909" cy="641909"/>
          </a:xfrm>
          <a:prstGeom prst="rect">
            <a:avLst/>
          </a:prstGeom>
        </p:spPr>
      </p:pic>
      <p:sp>
        <p:nvSpPr>
          <p:cNvPr id="9" name="Estrela - círculo"/>
          <p:cNvSpPr/>
          <p:nvPr/>
        </p:nvSpPr>
        <p:spPr>
          <a:xfrm>
            <a:off x="7635240" y="45720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Estrela - ícone" descr="Estre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723" y="4780483"/>
            <a:ext cx="451714" cy="451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estratégia em uma página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Instagram gera desejo, o Google captura quem já procura e o remarketing transforma visita em pedido</a:t>
            </a:r>
            <a:endParaRPr lang="en-US" sz="1600" dirty="0"/>
          </a:p>
        </p:txBody>
      </p:sp>
      <p:sp>
        <p:nvSpPr>
          <p:cNvPr id="4" name="Pilar Meta Ads"/>
          <p:cNvSpPr/>
          <p:nvPr/>
        </p:nvSpPr>
        <p:spPr>
          <a:xfrm>
            <a:off x="548640" y="178308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5" name="Meta Ads - círculo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eta Ads - ícone" descr="Meta A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232965"/>
            <a:ext cx="380390" cy="380390"/>
          </a:xfrm>
          <a:prstGeom prst="rect">
            <a:avLst/>
          </a:prstGeom>
        </p:spPr>
      </p:pic>
      <p:sp>
        <p:nvSpPr>
          <p:cNvPr id="7" name="Meta Ads - verba"/>
          <p:cNvSpPr txBox="1"/>
          <p:nvPr/>
        </p:nvSpPr>
        <p:spPr>
          <a:xfrm>
            <a:off x="1737360" y="2103120"/>
            <a:ext cx="110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45%</a:t>
            </a:r>
            <a:endParaRPr lang="en-US" sz="3200" dirty="0"/>
          </a:p>
        </p:txBody>
      </p:sp>
      <p:sp>
        <p:nvSpPr>
          <p:cNvPr id="8" name="Meta Ads - nome"/>
          <p:cNvSpPr txBox="1"/>
          <p:nvPr/>
        </p:nvSpPr>
        <p:spPr>
          <a:xfrm>
            <a:off x="822960" y="301752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Meta Ads</a:t>
            </a:r>
            <a:endParaRPr lang="en-US" sz="2000" dirty="0"/>
          </a:p>
        </p:txBody>
      </p:sp>
      <p:sp>
        <p:nvSpPr>
          <p:cNvPr id="9" name="Meta Ads - canal"/>
          <p:cNvSpPr txBox="1"/>
          <p:nvPr/>
        </p:nvSpPr>
        <p:spPr>
          <a:xfrm>
            <a:off x="822960" y="33832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Instagram e Facebook</a:t>
            </a:r>
            <a:endParaRPr lang="en-US" sz="1200" dirty="0"/>
          </a:p>
        </p:txBody>
      </p:sp>
      <p:sp>
        <p:nvSpPr>
          <p:cNvPr id="10" name="Meta Ads - papel"/>
          <p:cNvSpPr txBox="1"/>
          <p:nvPr/>
        </p:nvSpPr>
        <p:spPr>
          <a:xfrm>
            <a:off x="822960" y="37947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Motor de demanda: Reels de dar água na boca para quem mora ou trabalha a até 6 km.</a:t>
            </a:r>
            <a:endParaRPr lang="en-US" sz="1400" dirty="0"/>
          </a:p>
        </p:txBody>
      </p:sp>
      <p:sp>
        <p:nvSpPr>
          <p:cNvPr id="11" name="Pilar Google Ads"/>
          <p:cNvSpPr/>
          <p:nvPr/>
        </p:nvSpPr>
        <p:spPr>
          <a:xfrm>
            <a:off x="3390824" y="178308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2" name="Google Ads - círculo"/>
          <p:cNvSpPr/>
          <p:nvPr/>
        </p:nvSpPr>
        <p:spPr>
          <a:xfrm>
            <a:off x="3665144" y="20574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Google Ads - ícone" descr="Google A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709" y="2232965"/>
            <a:ext cx="380390" cy="380390"/>
          </a:xfrm>
          <a:prstGeom prst="rect">
            <a:avLst/>
          </a:prstGeom>
        </p:spPr>
      </p:pic>
      <p:sp>
        <p:nvSpPr>
          <p:cNvPr id="14" name="Google Ads - verba"/>
          <p:cNvSpPr txBox="1"/>
          <p:nvPr/>
        </p:nvSpPr>
        <p:spPr>
          <a:xfrm>
            <a:off x="4579544" y="2103120"/>
            <a:ext cx="110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25%</a:t>
            </a:r>
            <a:endParaRPr lang="en-US" sz="3200" dirty="0"/>
          </a:p>
        </p:txBody>
      </p:sp>
      <p:sp>
        <p:nvSpPr>
          <p:cNvPr id="15" name="Google Ads - nome"/>
          <p:cNvSpPr txBox="1"/>
          <p:nvPr/>
        </p:nvSpPr>
        <p:spPr>
          <a:xfrm>
            <a:off x="3665144" y="301752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Google Ads</a:t>
            </a:r>
            <a:endParaRPr lang="en-US" sz="2000" dirty="0"/>
          </a:p>
        </p:txBody>
      </p:sp>
      <p:sp>
        <p:nvSpPr>
          <p:cNvPr id="16" name="Google Ads - canal"/>
          <p:cNvSpPr txBox="1"/>
          <p:nvPr/>
        </p:nvSpPr>
        <p:spPr>
          <a:xfrm>
            <a:off x="3665144" y="33832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Pesquisa e Maps</a:t>
            </a:r>
            <a:endParaRPr lang="en-US" sz="1200" dirty="0"/>
          </a:p>
        </p:txBody>
      </p:sp>
      <p:sp>
        <p:nvSpPr>
          <p:cNvPr id="17" name="Google Ads - papel"/>
          <p:cNvSpPr txBox="1"/>
          <p:nvPr/>
        </p:nvSpPr>
        <p:spPr>
          <a:xfrm>
            <a:off x="3665144" y="37947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Captura a intenção: “doceria perto de mim”, “bolo de aniversário sob encomenda”.</a:t>
            </a:r>
            <a:endParaRPr lang="en-US" sz="1400" dirty="0"/>
          </a:p>
        </p:txBody>
      </p:sp>
      <p:sp>
        <p:nvSpPr>
          <p:cNvPr id="18" name="Pilar iFood Ads"/>
          <p:cNvSpPr/>
          <p:nvPr/>
        </p:nvSpPr>
        <p:spPr>
          <a:xfrm>
            <a:off x="6233008" y="178308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9" name="iFood Ads - círculo"/>
          <p:cNvSpPr/>
          <p:nvPr/>
        </p:nvSpPr>
        <p:spPr>
          <a:xfrm>
            <a:off x="6507328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Food Ads - ícone" descr="iFood A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92" y="2232965"/>
            <a:ext cx="380390" cy="380390"/>
          </a:xfrm>
          <a:prstGeom prst="rect">
            <a:avLst/>
          </a:prstGeom>
        </p:spPr>
      </p:pic>
      <p:sp>
        <p:nvSpPr>
          <p:cNvPr id="21" name="iFood Ads - verba"/>
          <p:cNvSpPr txBox="1"/>
          <p:nvPr/>
        </p:nvSpPr>
        <p:spPr>
          <a:xfrm>
            <a:off x="7421728" y="2103120"/>
            <a:ext cx="110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15%</a:t>
            </a:r>
            <a:endParaRPr lang="en-US" sz="3200" dirty="0"/>
          </a:p>
        </p:txBody>
      </p:sp>
      <p:sp>
        <p:nvSpPr>
          <p:cNvPr id="22" name="iFood Ads - nome"/>
          <p:cNvSpPr txBox="1"/>
          <p:nvPr/>
        </p:nvSpPr>
        <p:spPr>
          <a:xfrm>
            <a:off x="6507328" y="301752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iFood Ads</a:t>
            </a:r>
            <a:endParaRPr lang="en-US" sz="2000" dirty="0"/>
          </a:p>
        </p:txBody>
      </p:sp>
      <p:sp>
        <p:nvSpPr>
          <p:cNvPr id="23" name="iFood Ads - canal"/>
          <p:cNvSpPr txBox="1"/>
          <p:nvPr/>
        </p:nvSpPr>
        <p:spPr>
          <a:xfrm>
            <a:off x="6507328" y="33832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Delivery</a:t>
            </a:r>
            <a:endParaRPr lang="en-US" sz="1200" dirty="0"/>
          </a:p>
        </p:txBody>
      </p:sp>
      <p:sp>
        <p:nvSpPr>
          <p:cNvPr id="24" name="iFood Ads - papel"/>
          <p:cNvSpPr txBox="1"/>
          <p:nvPr/>
        </p:nvSpPr>
        <p:spPr>
          <a:xfrm>
            <a:off x="6507328" y="37947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Destaque no app no momento exato em que a pessoa escolhe a sobremesa.</a:t>
            </a:r>
            <a:endParaRPr lang="en-US" sz="1400" dirty="0"/>
          </a:p>
        </p:txBody>
      </p:sp>
      <p:sp>
        <p:nvSpPr>
          <p:cNvPr id="25" name="Pilar Remarketing"/>
          <p:cNvSpPr/>
          <p:nvPr/>
        </p:nvSpPr>
        <p:spPr>
          <a:xfrm>
            <a:off x="9075191" y="178308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6" name="Remarketing - círculo"/>
          <p:cNvSpPr/>
          <p:nvPr/>
        </p:nvSpPr>
        <p:spPr>
          <a:xfrm>
            <a:off x="9349511" y="20574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Remarketing - ícone" descr="Remarke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76" y="2232965"/>
            <a:ext cx="380390" cy="380390"/>
          </a:xfrm>
          <a:prstGeom prst="rect">
            <a:avLst/>
          </a:prstGeom>
        </p:spPr>
      </p:pic>
      <p:sp>
        <p:nvSpPr>
          <p:cNvPr id="28" name="Remarketing - verba"/>
          <p:cNvSpPr txBox="1"/>
          <p:nvPr/>
        </p:nvSpPr>
        <p:spPr>
          <a:xfrm>
            <a:off x="10263911" y="2103120"/>
            <a:ext cx="110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15%</a:t>
            </a:r>
            <a:endParaRPr lang="en-US" sz="3200" dirty="0"/>
          </a:p>
        </p:txBody>
      </p:sp>
      <p:sp>
        <p:nvSpPr>
          <p:cNvPr id="29" name="Remarketing - nome"/>
          <p:cNvSpPr txBox="1"/>
          <p:nvPr/>
        </p:nvSpPr>
        <p:spPr>
          <a:xfrm>
            <a:off x="9349511" y="301752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Remarketing</a:t>
            </a:r>
            <a:endParaRPr lang="en-US" sz="2000" dirty="0"/>
          </a:p>
        </p:txBody>
      </p:sp>
      <p:sp>
        <p:nvSpPr>
          <p:cNvPr id="30" name="Remarketing - canal"/>
          <p:cNvSpPr txBox="1"/>
          <p:nvPr/>
        </p:nvSpPr>
        <p:spPr>
          <a:xfrm>
            <a:off x="9349511" y="33832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Meta + Google</a:t>
            </a:r>
            <a:endParaRPr lang="en-US" sz="1200" dirty="0"/>
          </a:p>
        </p:txBody>
      </p:sp>
      <p:sp>
        <p:nvSpPr>
          <p:cNvPr id="31" name="Remarketing - papel"/>
          <p:cNvSpPr txBox="1"/>
          <p:nvPr/>
        </p:nvSpPr>
        <p:spPr>
          <a:xfrm>
            <a:off x="9349511" y="37947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Recupera quem viu e não comprou e fecha encomendas pelo WhatsApp.</a:t>
            </a:r>
            <a:endParaRPr lang="en-US" sz="1400" dirty="0"/>
          </a:p>
        </p:txBody>
      </p:sp>
      <p:sp>
        <p:nvSpPr>
          <p:cNvPr id="32" name="Meta principal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/>
        </p:spPr>
      </p:sp>
      <p:sp>
        <p:nvSpPr>
          <p:cNvPr id="33" name="Meta - círculo"/>
          <p:cNvSpPr/>
          <p:nvPr/>
        </p:nvSpPr>
        <p:spPr>
          <a:xfrm>
            <a:off x="777240" y="543153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Meta - ícone" descr="Met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330" y="5556626"/>
            <a:ext cx="271028" cy="271028"/>
          </a:xfrm>
          <a:prstGeom prst="rect">
            <a:avLst/>
          </a:prstGeom>
        </p:spPr>
      </p:pic>
      <p:sp>
        <p:nvSpPr>
          <p:cNvPr id="35" name="Meta - texto"/>
          <p:cNvSpPr txBox="1"/>
          <p:nvPr/>
        </p:nvSpPr>
        <p:spPr>
          <a:xfrm>
            <a:off x="1508760" y="530352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Meta até o 3º mês: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ROAS de 3x ou mais e custo por conversa no WhatsApp entre R$ 3 e R$ 8.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Por que doceria em SP é um caso à parte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Doce é compra de impulso e de ocasião: o anúncio precisa chegar no lugar e na hora certos</a:t>
            </a:r>
            <a:endParaRPr lang="en-US" sz="1600" dirty="0"/>
          </a:p>
        </p:txBody>
      </p:sp>
      <p:sp>
        <p:nvSpPr>
          <p:cNvPr id="4" name="Contexto Compra por impulso"/>
          <p:cNvSpPr/>
          <p:nvPr/>
        </p:nvSpPr>
        <p:spPr>
          <a:xfrm>
            <a:off x="54864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Compra por impulso - círculo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ompra por impulso - ícone" descr="Compra por impul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11019"/>
            <a:ext cx="332842" cy="332842"/>
          </a:xfrm>
          <a:prstGeom prst="rect">
            <a:avLst/>
          </a:prstGeom>
        </p:spPr>
      </p:pic>
      <p:sp>
        <p:nvSpPr>
          <p:cNvPr id="7" name="Compra por impulso - título"/>
          <p:cNvSpPr txBox="1"/>
          <p:nvPr/>
        </p:nvSpPr>
        <p:spPr>
          <a:xfrm>
            <a:off x="164592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Compra por impulso</a:t>
            </a:r>
            <a:endParaRPr lang="en-US" sz="1800" dirty="0"/>
          </a:p>
        </p:txBody>
      </p:sp>
      <p:sp>
        <p:nvSpPr>
          <p:cNvPr id="8" name="Compra por impulso - texto"/>
          <p:cNvSpPr txBox="1"/>
          <p:nvPr/>
        </p:nvSpPr>
        <p:spPr>
          <a:xfrm>
            <a:off x="82296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decisão acontece em segundos e pelo olho. Vídeo com close no produto vende mais que texto.</a:t>
            </a:r>
            <a:endParaRPr lang="en-US" sz="1400" dirty="0"/>
          </a:p>
        </p:txBody>
      </p:sp>
      <p:sp>
        <p:nvSpPr>
          <p:cNvPr id="9" name="Contexto Raio curto"/>
          <p:cNvSpPr/>
          <p:nvPr/>
        </p:nvSpPr>
        <p:spPr>
          <a:xfrm>
            <a:off x="429768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Raio curto - círculo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aio curto - ícone" descr="Raio cur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2" name="Raio curto - título"/>
          <p:cNvSpPr txBox="1"/>
          <p:nvPr/>
        </p:nvSpPr>
        <p:spPr>
          <a:xfrm>
            <a:off x="539496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Raio curto</a:t>
            </a:r>
            <a:endParaRPr lang="en-US" sz="1800" dirty="0"/>
          </a:p>
        </p:txBody>
      </p:sp>
      <p:sp>
        <p:nvSpPr>
          <p:cNvPr id="13" name="Raio curto - texto"/>
          <p:cNvSpPr txBox="1"/>
          <p:nvPr/>
        </p:nvSpPr>
        <p:spPr>
          <a:xfrm>
            <a:off x="457200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Doce viaja mal e a fome é agora. Anunciar para a cidade inteira desperdiça verba.</a:t>
            </a:r>
            <a:endParaRPr lang="en-US" sz="1400" dirty="0"/>
          </a:p>
        </p:txBody>
      </p:sp>
      <p:sp>
        <p:nvSpPr>
          <p:cNvPr id="14" name="Contexto Ocasiões e datas"/>
          <p:cNvSpPr/>
          <p:nvPr/>
        </p:nvSpPr>
        <p:spPr>
          <a:xfrm>
            <a:off x="548640" y="40690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Ocasiões e datas - círculo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Ocasiões e datas - ícone" descr="Ocasiões e dat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497019"/>
            <a:ext cx="332842" cy="332842"/>
          </a:xfrm>
          <a:prstGeom prst="rect">
            <a:avLst/>
          </a:prstGeom>
        </p:spPr>
      </p:pic>
      <p:sp>
        <p:nvSpPr>
          <p:cNvPr id="17" name="Ocasiões e datas - título"/>
          <p:cNvSpPr txBox="1"/>
          <p:nvPr/>
        </p:nvSpPr>
        <p:spPr>
          <a:xfrm>
            <a:off x="1645920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Ocasiões e datas</a:t>
            </a:r>
            <a:endParaRPr lang="en-US" sz="1800" dirty="0"/>
          </a:p>
        </p:txBody>
      </p:sp>
      <p:sp>
        <p:nvSpPr>
          <p:cNvPr id="18" name="Ocasiões e datas - texto"/>
          <p:cNvSpPr txBox="1"/>
          <p:nvPr/>
        </p:nvSpPr>
        <p:spPr>
          <a:xfrm>
            <a:off x="82296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Aniversários, Páscoa, Dia das Mães e Natal criam picos de demanda previsíveis.</a:t>
            </a:r>
            <a:endParaRPr lang="en-US" sz="1400" dirty="0"/>
          </a:p>
        </p:txBody>
      </p:sp>
      <p:sp>
        <p:nvSpPr>
          <p:cNvPr id="19" name="Contexto Concorrência alta"/>
          <p:cNvSpPr/>
          <p:nvPr/>
        </p:nvSpPr>
        <p:spPr>
          <a:xfrm>
            <a:off x="4297680" y="40690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0" name="Concorrência alta - círculo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oncorrência alta - ícone" descr="Concorrência al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19" y="4497019"/>
            <a:ext cx="332842" cy="332842"/>
          </a:xfrm>
          <a:prstGeom prst="rect">
            <a:avLst/>
          </a:prstGeom>
        </p:spPr>
      </p:pic>
      <p:sp>
        <p:nvSpPr>
          <p:cNvPr id="22" name="Concorrência alta - título"/>
          <p:cNvSpPr txBox="1"/>
          <p:nvPr/>
        </p:nvSpPr>
        <p:spPr>
          <a:xfrm>
            <a:off x="5394960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Concorrência alta</a:t>
            </a:r>
            <a:endParaRPr lang="en-US" sz="1800" dirty="0"/>
          </a:p>
        </p:txBody>
      </p:sp>
      <p:sp>
        <p:nvSpPr>
          <p:cNvPr id="23" name="Concorrência alta - texto"/>
          <p:cNvSpPr txBox="1"/>
          <p:nvPr/>
        </p:nvSpPr>
        <p:spPr>
          <a:xfrm>
            <a:off x="457200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Docerias, cafés e confeitarias em cada bairro: ganha quem tem o criativo mais desejável.</a:t>
            </a:r>
            <a:endParaRPr lang="en-US" sz="1400" dirty="0"/>
          </a:p>
        </p:txBody>
      </p:sp>
      <p:sp>
        <p:nvSpPr>
          <p:cNvPr id="24" name="Destaque raio"/>
          <p:cNvSpPr/>
          <p:nvPr/>
        </p:nvSpPr>
        <p:spPr>
          <a:xfrm>
            <a:off x="8046720" y="1783080"/>
            <a:ext cx="3596335" cy="4297680"/>
          </a:xfrm>
          <a:prstGeom prst="roundRect">
            <a:avLst>
              <a:gd name="adj" fmla="val 3051"/>
            </a:avLst>
          </a:prstGeom>
          <a:solidFill>
            <a:schemeClr val="tx1"/>
          </a:solidFill>
          <a:ln/>
        </p:spPr>
      </p:sp>
      <p:sp>
        <p:nvSpPr>
          <p:cNvPr id="25" name="Raio - número"/>
          <p:cNvSpPr txBox="1"/>
          <p:nvPr/>
        </p:nvSpPr>
        <p:spPr>
          <a:xfrm>
            <a:off x="8366760" y="2606040"/>
            <a:ext cx="2956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3–6 km</a:t>
            </a:r>
            <a:endParaRPr lang="en-US" sz="6000" dirty="0"/>
          </a:p>
        </p:txBody>
      </p:sp>
      <p:sp>
        <p:nvSpPr>
          <p:cNvPr id="26" name="Raio - legenda"/>
          <p:cNvSpPr txBox="1"/>
          <p:nvPr/>
        </p:nvSpPr>
        <p:spPr>
          <a:xfrm>
            <a:off x="8366760" y="3840480"/>
            <a:ext cx="2956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é o raio recomendado para campanhas de delivery de doces</a:t>
            </a:r>
            <a:endParaRPr lang="en-US" sz="1800" dirty="0"/>
          </a:p>
        </p:txBody>
      </p:sp>
      <p:sp>
        <p:nvSpPr>
          <p:cNvPr id="27" name="Raio - nota"/>
          <p:cNvSpPr txBox="1"/>
          <p:nvPr/>
        </p:nvSpPr>
        <p:spPr>
          <a:xfrm>
            <a:off x="8366760" y="50749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Valide com o mapa dos seus pedidos e ajuste por bairro.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Quatro públicos, quatro mensagens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Segmente por ocasião de compra, não só por idade e gênero</a:t>
            </a:r>
            <a:endParaRPr lang="en-US" sz="1600" dirty="0"/>
          </a:p>
        </p:txBody>
      </p:sp>
      <p:sp>
        <p:nvSpPr>
          <p:cNvPr id="4" name="Persona Desejo do dia"/>
          <p:cNvSpPr/>
          <p:nvPr/>
        </p:nvSpPr>
        <p:spPr>
          <a:xfrm>
            <a:off x="548640" y="1783080"/>
            <a:ext cx="2567864" cy="43434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5" name="Desejo do dia - círculo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esejo do dia - ícone" descr="Desejo do d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232965"/>
            <a:ext cx="380390" cy="380390"/>
          </a:xfrm>
          <a:prstGeom prst="rect">
            <a:avLst/>
          </a:prstGeom>
        </p:spPr>
      </p:pic>
      <p:sp>
        <p:nvSpPr>
          <p:cNvPr id="7" name="Desejo do dia - nome"/>
          <p:cNvSpPr txBox="1"/>
          <p:nvPr/>
        </p:nvSpPr>
        <p:spPr>
          <a:xfrm>
            <a:off x="822960" y="29260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Desejo do dia</a:t>
            </a:r>
            <a:endParaRPr lang="en-US" sz="1900" dirty="0"/>
          </a:p>
        </p:txBody>
      </p:sp>
      <p:sp>
        <p:nvSpPr>
          <p:cNvPr id="8" name="Desejo do dia - perfil"/>
          <p:cNvSpPr txBox="1"/>
          <p:nvPr/>
        </p:nvSpPr>
        <p:spPr>
          <a:xfrm>
            <a:off x="822960" y="342900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Quem: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18–40 anos, mora ou trabalha no raio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Compra: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brownie, brigadeiro, fatia de bolo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Reels + iFood</a:t>
            </a:r>
            <a:endParaRPr lang="en-US" sz="1400" dirty="0"/>
          </a:p>
        </p:txBody>
      </p:sp>
      <p:sp>
        <p:nvSpPr>
          <p:cNvPr id="9" name="Desejo do dia - gancho"/>
          <p:cNvSpPr txBox="1"/>
          <p:nvPr/>
        </p:nvSpPr>
        <p:spPr>
          <a:xfrm>
            <a:off x="822960" y="53035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“Bateu a vontade? Chega em 30 minutos.”</a:t>
            </a:r>
            <a:endParaRPr lang="en-US" sz="1400" dirty="0"/>
          </a:p>
        </p:txBody>
      </p:sp>
      <p:sp>
        <p:nvSpPr>
          <p:cNvPr id="10" name="Persona Quem presenteia"/>
          <p:cNvSpPr/>
          <p:nvPr/>
        </p:nvSpPr>
        <p:spPr>
          <a:xfrm>
            <a:off x="3390824" y="1783080"/>
            <a:ext cx="2567864" cy="43434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1" name="Quem presenteia - círculo"/>
          <p:cNvSpPr/>
          <p:nvPr/>
        </p:nvSpPr>
        <p:spPr>
          <a:xfrm>
            <a:off x="3665144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Quem presenteia - ícone" descr="Quem presente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709" y="2232965"/>
            <a:ext cx="380390" cy="380390"/>
          </a:xfrm>
          <a:prstGeom prst="rect">
            <a:avLst/>
          </a:prstGeom>
        </p:spPr>
      </p:pic>
      <p:sp>
        <p:nvSpPr>
          <p:cNvPr id="13" name="Quem presenteia - nome"/>
          <p:cNvSpPr txBox="1"/>
          <p:nvPr/>
        </p:nvSpPr>
        <p:spPr>
          <a:xfrm>
            <a:off x="3665144" y="29260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presenteia</a:t>
            </a:r>
            <a:endParaRPr lang="en-US" sz="1900" dirty="0"/>
          </a:p>
        </p:txBody>
      </p:sp>
      <p:sp>
        <p:nvSpPr>
          <p:cNvPr id="14" name="Quem presenteia - perfil"/>
          <p:cNvSpPr txBox="1"/>
          <p:nvPr/>
        </p:nvSpPr>
        <p:spPr>
          <a:xfrm>
            <a:off x="3665144" y="342900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Quem: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25–55 anos, datas e “só porque sim”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Compra: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caixas de doces e cestas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Instagram + Google</a:t>
            </a:r>
            <a:endParaRPr lang="en-US" sz="1400" dirty="0"/>
          </a:p>
        </p:txBody>
      </p:sp>
      <p:sp>
        <p:nvSpPr>
          <p:cNvPr id="15" name="Quem presenteia - gancho"/>
          <p:cNvSpPr txBox="1"/>
          <p:nvPr/>
        </p:nvSpPr>
        <p:spPr>
          <a:xfrm>
            <a:off x="3665144" y="53035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“O presente que ninguém esquece.”</a:t>
            </a:r>
            <a:endParaRPr lang="en-US" sz="1400" dirty="0"/>
          </a:p>
        </p:txBody>
      </p:sp>
      <p:sp>
        <p:nvSpPr>
          <p:cNvPr id="16" name="Persona Aniversários"/>
          <p:cNvSpPr/>
          <p:nvPr/>
        </p:nvSpPr>
        <p:spPr>
          <a:xfrm>
            <a:off x="6233008" y="1783080"/>
            <a:ext cx="2567864" cy="43434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7" name="Aniversários - círculo"/>
          <p:cNvSpPr/>
          <p:nvPr/>
        </p:nvSpPr>
        <p:spPr>
          <a:xfrm>
            <a:off x="6507328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niversários - ícone" descr="Aniversári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92" y="2232965"/>
            <a:ext cx="380390" cy="380390"/>
          </a:xfrm>
          <a:prstGeom prst="rect">
            <a:avLst/>
          </a:prstGeom>
        </p:spPr>
      </p:pic>
      <p:sp>
        <p:nvSpPr>
          <p:cNvPr id="19" name="Aniversários - nome"/>
          <p:cNvSpPr txBox="1"/>
          <p:nvPr/>
        </p:nvSpPr>
        <p:spPr>
          <a:xfrm>
            <a:off x="6507328" y="29260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Aniversários</a:t>
            </a:r>
            <a:endParaRPr lang="en-US" sz="1900" dirty="0"/>
          </a:p>
        </p:txBody>
      </p:sp>
      <p:sp>
        <p:nvSpPr>
          <p:cNvPr id="20" name="Aniversários - perfil"/>
          <p:cNvSpPr txBox="1"/>
          <p:nvPr/>
        </p:nvSpPr>
        <p:spPr>
          <a:xfrm>
            <a:off x="6507328" y="342900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Quem: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pais e organizadores de festa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Compra: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bolo sob encomenda e cento de docinhos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Google Pesquisa + WhatsApp</a:t>
            </a:r>
            <a:endParaRPr lang="en-US" sz="1400" dirty="0"/>
          </a:p>
        </p:txBody>
      </p:sp>
      <p:sp>
        <p:nvSpPr>
          <p:cNvPr id="21" name="Aniversários - gancho"/>
          <p:cNvSpPr txBox="1"/>
          <p:nvPr/>
        </p:nvSpPr>
        <p:spPr>
          <a:xfrm>
            <a:off x="6507328" y="53035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“Orçamento do seu bolo em 5 minutos.”</a:t>
            </a:r>
            <a:endParaRPr lang="en-US" sz="1400" dirty="0"/>
          </a:p>
        </p:txBody>
      </p:sp>
      <p:sp>
        <p:nvSpPr>
          <p:cNvPr id="22" name="Persona Corporativo"/>
          <p:cNvSpPr/>
          <p:nvPr/>
        </p:nvSpPr>
        <p:spPr>
          <a:xfrm>
            <a:off x="9075191" y="1783080"/>
            <a:ext cx="2567864" cy="43434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3" name="Corporativo - círculo"/>
          <p:cNvSpPr/>
          <p:nvPr/>
        </p:nvSpPr>
        <p:spPr>
          <a:xfrm>
            <a:off x="9349511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Corporativo - ícone" descr="Corp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76" y="2232965"/>
            <a:ext cx="380390" cy="380390"/>
          </a:xfrm>
          <a:prstGeom prst="rect">
            <a:avLst/>
          </a:prstGeom>
        </p:spPr>
      </p:pic>
      <p:sp>
        <p:nvSpPr>
          <p:cNvPr id="25" name="Corporativo - nome"/>
          <p:cNvSpPr txBox="1"/>
          <p:nvPr/>
        </p:nvSpPr>
        <p:spPr>
          <a:xfrm>
            <a:off x="9349511" y="29260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Corporativo</a:t>
            </a:r>
            <a:endParaRPr lang="en-US" sz="1900" dirty="0"/>
          </a:p>
        </p:txBody>
      </p:sp>
      <p:sp>
        <p:nvSpPr>
          <p:cNvPr id="26" name="Corporativo - perfil"/>
          <p:cNvSpPr txBox="1"/>
          <p:nvPr/>
        </p:nvSpPr>
        <p:spPr>
          <a:xfrm>
            <a:off x="9349511" y="342900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Quem: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RH e escritórios do entorno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Compra: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coffee break, kits e brindes de fim de ano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Google Pesquisa + Meta</a:t>
            </a:r>
            <a:endParaRPr lang="en-US" sz="1400" dirty="0"/>
          </a:p>
        </p:txBody>
      </p:sp>
      <p:sp>
        <p:nvSpPr>
          <p:cNvPr id="27" name="Corporativo - gancho"/>
          <p:cNvSpPr txBox="1"/>
          <p:nvPr/>
        </p:nvSpPr>
        <p:spPr>
          <a:xfrm>
            <a:off x="9349511" y="53035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“Kits personalizados para sua equipe.”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Funil completo: do desejo ao pedido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etapa tem objetivo, formato e métrica próprios</a:t>
            </a:r>
            <a:endParaRPr lang="en-US" sz="1600" dirty="0"/>
          </a:p>
        </p:txBody>
      </p:sp>
      <p:sp>
        <p:nvSpPr>
          <p:cNvPr id="4" name="Cabeçalho Objetivo e formato"/>
          <p:cNvSpPr txBox="1"/>
          <p:nvPr/>
        </p:nvSpPr>
        <p:spPr>
          <a:xfrm>
            <a:off x="498348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OBJETIVO E FORMATO</a:t>
            </a:r>
            <a:endParaRPr lang="en-US" sz="1200" dirty="0"/>
          </a:p>
        </p:txBody>
      </p:sp>
      <p:sp>
        <p:nvSpPr>
          <p:cNvPr id="5" name="Cabeçalho Para quem"/>
          <p:cNvSpPr txBox="1"/>
          <p:nvPr/>
        </p:nvSpPr>
        <p:spPr>
          <a:xfrm>
            <a:off x="781812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PARA QUEM</a:t>
            </a:r>
            <a:endParaRPr lang="en-US" sz="1200" dirty="0"/>
          </a:p>
        </p:txBody>
      </p:sp>
      <p:sp>
        <p:nvSpPr>
          <p:cNvPr id="6" name="Cabeçalho Métrica-chave"/>
          <p:cNvSpPr txBox="1"/>
          <p:nvPr/>
        </p:nvSpPr>
        <p:spPr>
          <a:xfrm>
            <a:off x="1019556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MÉTRICA-CHAVE</a:t>
            </a:r>
            <a:endParaRPr lang="en-US" sz="1200" dirty="0"/>
          </a:p>
        </p:txBody>
      </p:sp>
      <p:sp>
        <p:nvSpPr>
          <p:cNvPr id="7" name="Funil Topo"/>
          <p:cNvSpPr/>
          <p:nvPr/>
        </p:nvSpPr>
        <p:spPr>
          <a:xfrm>
            <a:off x="548640" y="219456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/>
        </p:spPr>
      </p:sp>
      <p:sp>
        <p:nvSpPr>
          <p:cNvPr id="8" name="Funil Topo - rótulo"/>
          <p:cNvSpPr txBox="1"/>
          <p:nvPr/>
        </p:nvSpPr>
        <p:spPr>
          <a:xfrm>
            <a:off x="548640" y="21945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Topo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Descoberta</a:t>
            </a:r>
            <a:endParaRPr lang="en-US" sz="1400" dirty="0"/>
          </a:p>
        </p:txBody>
      </p:sp>
      <p:sp>
        <p:nvSpPr>
          <p:cNvPr id="9" name="Linha Topo"/>
          <p:cNvSpPr/>
          <p:nvPr/>
        </p:nvSpPr>
        <p:spPr>
          <a:xfrm>
            <a:off x="4800600" y="2194560"/>
            <a:ext cx="684245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opo - Objetivo e formato"/>
          <p:cNvSpPr txBox="1"/>
          <p:nvPr/>
        </p:nvSpPr>
        <p:spPr>
          <a:xfrm>
            <a:off x="4983480" y="2304288"/>
            <a:ext cx="2606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Alcance e visualizações: Reels de 7 a 15 s com close no produto</a:t>
            </a:r>
            <a:endParaRPr lang="en-US" sz="1400" dirty="0"/>
          </a:p>
        </p:txBody>
      </p:sp>
      <p:sp>
        <p:nvSpPr>
          <p:cNvPr id="11" name="Topo - Para quem"/>
          <p:cNvSpPr txBox="1"/>
          <p:nvPr/>
        </p:nvSpPr>
        <p:spPr>
          <a:xfrm>
            <a:off x="7818120" y="2304288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Todos no raio de 5 km, de 18 a 55 anos</a:t>
            </a:r>
            <a:endParaRPr lang="en-US" sz="1400" dirty="0"/>
          </a:p>
        </p:txBody>
      </p:sp>
      <p:sp>
        <p:nvSpPr>
          <p:cNvPr id="12" name="Topo - Métrica-chave"/>
          <p:cNvSpPr txBox="1"/>
          <p:nvPr/>
        </p:nvSpPr>
        <p:spPr>
          <a:xfrm>
            <a:off x="10195560" y="2304288"/>
            <a:ext cx="1371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CPM e retenção de 3 s ≥ 25%</a:t>
            </a:r>
            <a:endParaRPr lang="en-US" sz="1400" dirty="0"/>
          </a:p>
        </p:txBody>
      </p:sp>
      <p:sp>
        <p:nvSpPr>
          <p:cNvPr id="13" name="Funil Meio"/>
          <p:cNvSpPr/>
          <p:nvPr/>
        </p:nvSpPr>
        <p:spPr>
          <a:xfrm>
            <a:off x="868680" y="3611880"/>
            <a:ext cx="338328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4" name="Funil Meio - rótulo"/>
          <p:cNvSpPr txBox="1"/>
          <p:nvPr/>
        </p:nvSpPr>
        <p:spPr>
          <a:xfrm>
            <a:off x="868680" y="36118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Consideração</a:t>
            </a:r>
            <a:endParaRPr lang="en-US" sz="1400" dirty="0"/>
          </a:p>
        </p:txBody>
      </p:sp>
      <p:sp>
        <p:nvSpPr>
          <p:cNvPr id="15" name="Linha Meio"/>
          <p:cNvSpPr/>
          <p:nvPr/>
        </p:nvSpPr>
        <p:spPr>
          <a:xfrm>
            <a:off x="4800600" y="3611880"/>
            <a:ext cx="684245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6" name="Meio - Objetivo e formato"/>
          <p:cNvSpPr txBox="1"/>
          <p:nvPr/>
        </p:nvSpPr>
        <p:spPr>
          <a:xfrm>
            <a:off x="4983480" y="3721608"/>
            <a:ext cx="2606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Mensagens e engajamento: cardápio em carrossel, bastidores e depoimentos</a:t>
            </a:r>
            <a:endParaRPr lang="en-US" sz="1400" dirty="0"/>
          </a:p>
        </p:txBody>
      </p:sp>
      <p:sp>
        <p:nvSpPr>
          <p:cNvPr id="17" name="Meio - Para quem"/>
          <p:cNvSpPr txBox="1"/>
          <p:nvPr/>
        </p:nvSpPr>
        <p:spPr>
          <a:xfrm>
            <a:off x="7818120" y="3721608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Quem viu 50% dos vídeos ou interagiu com o perfil</a:t>
            </a:r>
            <a:endParaRPr lang="en-US" sz="1400" dirty="0"/>
          </a:p>
        </p:txBody>
      </p:sp>
      <p:sp>
        <p:nvSpPr>
          <p:cNvPr id="18" name="Meio - Métrica-chave"/>
          <p:cNvSpPr txBox="1"/>
          <p:nvPr/>
        </p:nvSpPr>
        <p:spPr>
          <a:xfrm>
            <a:off x="10195560" y="3721608"/>
            <a:ext cx="1371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CTR ≥ 1,5% e custo por conversa</a:t>
            </a:r>
            <a:endParaRPr lang="en-US" sz="1400" dirty="0"/>
          </a:p>
        </p:txBody>
      </p:sp>
      <p:sp>
        <p:nvSpPr>
          <p:cNvPr id="19" name="Funil Fundo"/>
          <p:cNvSpPr/>
          <p:nvPr/>
        </p:nvSpPr>
        <p:spPr>
          <a:xfrm>
            <a:off x="1188720" y="5029200"/>
            <a:ext cx="274320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0" name="Funil Fundo - rótulo"/>
          <p:cNvSpPr txBox="1"/>
          <p:nvPr/>
        </p:nvSpPr>
        <p:spPr>
          <a:xfrm>
            <a:off x="1188720" y="50292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Fundo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Conversão</a:t>
            </a:r>
            <a:endParaRPr lang="en-US" sz="1400" dirty="0"/>
          </a:p>
        </p:txBody>
      </p:sp>
      <p:sp>
        <p:nvSpPr>
          <p:cNvPr id="21" name="Linha Fundo"/>
          <p:cNvSpPr/>
          <p:nvPr/>
        </p:nvSpPr>
        <p:spPr>
          <a:xfrm>
            <a:off x="4800600" y="5029200"/>
            <a:ext cx="684245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2" name="Fundo - Objetivo e formato"/>
          <p:cNvSpPr txBox="1"/>
          <p:nvPr/>
        </p:nvSpPr>
        <p:spPr>
          <a:xfrm>
            <a:off x="4983480" y="5138928"/>
            <a:ext cx="2606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Vendas: oferta clara e botão para WhatsApp, iFood ou site</a:t>
            </a:r>
            <a:endParaRPr lang="en-US" sz="1400" dirty="0"/>
          </a:p>
        </p:txBody>
      </p:sp>
      <p:sp>
        <p:nvSpPr>
          <p:cNvPr id="23" name="Fundo - Para quem"/>
          <p:cNvSpPr txBox="1"/>
          <p:nvPr/>
        </p:nvSpPr>
        <p:spPr>
          <a:xfrm>
            <a:off x="7818120" y="5138928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Visitantes do site, conversas iniciadas e semelhantes de clientes</a:t>
            </a:r>
            <a:endParaRPr lang="en-US" sz="1400" dirty="0"/>
          </a:p>
        </p:txBody>
      </p:sp>
      <p:sp>
        <p:nvSpPr>
          <p:cNvPr id="24" name="Fundo - Métrica-chave"/>
          <p:cNvSpPr txBox="1"/>
          <p:nvPr/>
        </p:nvSpPr>
        <p:spPr>
          <a:xfrm>
            <a:off x="10195560" y="5138928"/>
            <a:ext cx="1371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CPA e ROAS ≥ 3x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papel de cada canal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Divisão de referência da verba; ajuste após 30 dias pelo custo por pedido de cada canal</a:t>
            </a:r>
            <a:endParaRPr lang="en-US" sz="1600" dirty="0"/>
          </a:p>
        </p:txBody>
      </p:sp>
      <p:graphicFrame>
        <p:nvGraphicFramePr>
          <p:cNvPr id="7" name="Tabela de cana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057400"/>
                <a:gridCol w="3931920"/>
                <a:gridCol w="1993392"/>
                <a:gridCol w="77998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Canal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Papel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Como configurar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Formato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Verba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Meta Ads (Instagram e Facebook)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Gerar desejo e pedidos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Campanha de Vendas ou Mensagens (WhatsApp) com raio local e Advantage+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Reels, Stories e carrossel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Google Ads – Pesquisa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Capturar quem já procura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Palavras locais: “doceria perto de mim”, “bolo de aniversário encomenda”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Texto com local e ligação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Google Maps e Perfil da Empresa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Aparecer no mapa e gerar rotas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Performance Max com metas de visitas à loja e ligações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Fotos, avaliações e pin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iFood Ads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Destaque na hora do pedido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Verba diária nos horários de pico, promovendo os campeões de venda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Destaque na busca e banners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Remarketing (Meta + Google)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Recuperar quem não comprou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Visitantes de 30 dias, engajados de 60 dias e clientes para recompra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Depoimentos e cupom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Onde e quando anunciar em São Paulo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Raio curto para delivery, raio maior para encomendas e verba concentrada nos horários de desejo</a:t>
            </a:r>
            <a:endParaRPr lang="en-US" sz="1600" dirty="0"/>
          </a:p>
        </p:txBody>
      </p:sp>
      <p:sp>
        <p:nvSpPr>
          <p:cNvPr id="4" name="Raio 1"/>
          <p:cNvSpPr/>
          <p:nvPr/>
        </p:nvSpPr>
        <p:spPr>
          <a:xfrm>
            <a:off x="548640" y="1783080"/>
            <a:ext cx="4297680" cy="42976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Raio 2"/>
          <p:cNvSpPr/>
          <p:nvPr/>
        </p:nvSpPr>
        <p:spPr>
          <a:xfrm>
            <a:off x="1211580" y="2446020"/>
            <a:ext cx="2971800" cy="29718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Raio 3"/>
          <p:cNvSpPr/>
          <p:nvPr/>
        </p:nvSpPr>
        <p:spPr>
          <a:xfrm>
            <a:off x="1874520" y="3108960"/>
            <a:ext cx="1645920" cy="1645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Raio 15 km - rótulo"/>
          <p:cNvSpPr txBox="1"/>
          <p:nvPr/>
        </p:nvSpPr>
        <p:spPr>
          <a:xfrm>
            <a:off x="123444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até 15 km · encomendas e corporativo</a:t>
            </a:r>
            <a:endParaRPr lang="en-US" sz="1300" dirty="0"/>
          </a:p>
        </p:txBody>
      </p:sp>
      <p:sp>
        <p:nvSpPr>
          <p:cNvPr id="8" name="Raio 6 km - rótulo"/>
          <p:cNvSpPr txBox="1"/>
          <p:nvPr/>
        </p:nvSpPr>
        <p:spPr>
          <a:xfrm>
            <a:off x="1508760" y="25740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3–6 km · delivery</a:t>
            </a:r>
            <a:endParaRPr lang="en-US" sz="1300" dirty="0"/>
          </a:p>
        </p:txBody>
      </p:sp>
      <p:pic>
        <p:nvPicPr>
          <p:cNvPr id="9" name="Loja - ícone" descr="Lo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3429000"/>
            <a:ext cx="512064" cy="512064"/>
          </a:xfrm>
          <a:prstGeom prst="rect">
            <a:avLst/>
          </a:prstGeom>
        </p:spPr>
      </p:pic>
      <p:sp>
        <p:nvSpPr>
          <p:cNvPr id="10" name="Raio 3 km - rótulo"/>
          <p:cNvSpPr txBox="1"/>
          <p:nvPr/>
        </p:nvSpPr>
        <p:spPr>
          <a:xfrm>
            <a:off x="1920240" y="3977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até 3 km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loja e retirada</a:t>
            </a:r>
            <a:endParaRPr lang="en-US" sz="1200" dirty="0"/>
          </a:p>
        </p:txBody>
      </p:sp>
      <p:sp>
        <p:nvSpPr>
          <p:cNvPr id="11" name="Gráfico horários - título"/>
          <p:cNvSpPr txBox="1"/>
          <p:nvPr/>
        </p:nvSpPr>
        <p:spPr>
          <a:xfrm>
            <a:off x="5257800" y="1783080"/>
            <a:ext cx="6385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Peso sugerido da verba por horário</a:t>
            </a:r>
            <a:endParaRPr lang="en-US" sz="1600" dirty="0"/>
          </a:p>
        </p:txBody>
      </p:sp>
      <p:graphicFrame>
        <p:nvGraphicFramePr>
          <p:cNvPr id="12" name="Gráfico horários" descr="Gráfico de colunas: 15% da verba das 10h às 13h, 30% das 13h às 17h, 20% das 17h às 20h e 35% das 20h às 23h"/>
          <p:cNvGraphicFramePr/>
          <p:nvPr/>
        </p:nvGraphicFramePr>
        <p:xfrm>
          <a:off x="5166360" y="2148840"/>
          <a:ext cx="647669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Dica Dias"/>
          <p:cNvSpPr/>
          <p:nvPr/>
        </p:nvSpPr>
        <p:spPr>
          <a:xfrm>
            <a:off x="5257800" y="4480560"/>
            <a:ext cx="3055468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Dias - círculo"/>
          <p:cNvSpPr/>
          <p:nvPr/>
        </p:nvSpPr>
        <p:spPr>
          <a:xfrm>
            <a:off x="5486400" y="4709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Dias - ícone" descr="Di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101" y="4829861"/>
            <a:ext cx="261518" cy="261518"/>
          </a:xfrm>
          <a:prstGeom prst="rect">
            <a:avLst/>
          </a:prstGeom>
        </p:spPr>
      </p:pic>
      <p:sp>
        <p:nvSpPr>
          <p:cNvPr id="16" name="Dica Dias - título"/>
          <p:cNvSpPr txBox="1"/>
          <p:nvPr/>
        </p:nvSpPr>
        <p:spPr>
          <a:xfrm>
            <a:off x="6126480" y="4709160"/>
            <a:ext cx="1958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Dias</a:t>
            </a:r>
            <a:endParaRPr lang="en-US" sz="1600" dirty="0"/>
          </a:p>
        </p:txBody>
      </p:sp>
      <p:sp>
        <p:nvSpPr>
          <p:cNvPr id="17" name="Dica Dias - texto"/>
          <p:cNvSpPr txBox="1"/>
          <p:nvPr/>
        </p:nvSpPr>
        <p:spPr>
          <a:xfrm>
            <a:off x="5486400" y="5303520"/>
            <a:ext cx="2598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Quinta a domingo costumam concentrar a demanda: reserve cerca de 60% da verba.</a:t>
            </a:r>
            <a:endParaRPr lang="en-US" sz="1400" dirty="0"/>
          </a:p>
        </p:txBody>
      </p:sp>
      <p:sp>
        <p:nvSpPr>
          <p:cNvPr id="18" name="Dica Bairros"/>
          <p:cNvSpPr/>
          <p:nvPr/>
        </p:nvSpPr>
        <p:spPr>
          <a:xfrm>
            <a:off x="8587588" y="4480560"/>
            <a:ext cx="3055468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Bairros - círculo"/>
          <p:cNvSpPr/>
          <p:nvPr/>
        </p:nvSpPr>
        <p:spPr>
          <a:xfrm>
            <a:off x="8816188" y="4709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Bairros - ícone" descr="Bairr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888" y="4829861"/>
            <a:ext cx="261518" cy="261518"/>
          </a:xfrm>
          <a:prstGeom prst="rect">
            <a:avLst/>
          </a:prstGeom>
        </p:spPr>
      </p:pic>
      <p:sp>
        <p:nvSpPr>
          <p:cNvPr id="21" name="Dica Bairros - título"/>
          <p:cNvSpPr txBox="1"/>
          <p:nvPr/>
        </p:nvSpPr>
        <p:spPr>
          <a:xfrm>
            <a:off x="9456268" y="4709160"/>
            <a:ext cx="1958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Bairros</a:t>
            </a:r>
            <a:endParaRPr lang="en-US" sz="1600" dirty="0"/>
          </a:p>
        </p:txBody>
      </p:sp>
      <p:sp>
        <p:nvSpPr>
          <p:cNvPr id="22" name="Dica Bairros - texto"/>
          <p:cNvSpPr txBox="1"/>
          <p:nvPr/>
        </p:nvSpPr>
        <p:spPr>
          <a:xfrm>
            <a:off x="8816188" y="5303520"/>
            <a:ext cx="2598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Crie um conjunto por região (ex.: Moema, Pinheiros, Tatuapé) e compare o custo por pedido.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Quanto investir por mês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Comece no cenário que cabe no caixa e escale apenas o que provar retorno</a:t>
            </a:r>
            <a:endParaRPr lang="en-US" sz="1600" dirty="0"/>
          </a:p>
        </p:txBody>
      </p:sp>
      <p:sp>
        <p:nvSpPr>
          <p:cNvPr id="4" name="Divisão - título"/>
          <p:cNvSpPr txBox="1"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Divisão da verba por canal</a:t>
            </a:r>
            <a:endParaRPr lang="en-US" sz="1600" dirty="0"/>
          </a:p>
        </p:txBody>
      </p:sp>
      <p:graphicFrame>
        <p:nvGraphicFramePr>
          <p:cNvPr id="5" name="Gráfico divisão da verba" descr="Gráfico de rosca: Meta Ads 45%, Google Ads 25%, iFood Ads 15%, Remarketing 15%"/>
          <p:cNvGraphicFramePr/>
          <p:nvPr/>
        </p:nvGraphicFramePr>
        <p:xfrm>
          <a:off x="548640" y="224028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Divisão - centro"/>
          <p:cNvSpPr txBox="1"/>
          <p:nvPr/>
        </p:nvSpPr>
        <p:spPr>
          <a:xfrm>
            <a:off x="10972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R$ 3.000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exemplo/mês</a:t>
            </a:r>
            <a:endParaRPr lang="en-US" sz="1400" dirty="0"/>
          </a:p>
        </p:txBody>
      </p:sp>
      <p:sp>
        <p:nvSpPr>
          <p:cNvPr id="7" name="Legenda Meta Ads - cor"/>
          <p:cNvSpPr/>
          <p:nvPr/>
        </p:nvSpPr>
        <p:spPr>
          <a:xfrm>
            <a:off x="3703320" y="24780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Legenda Meta Ads"/>
          <p:cNvSpPr txBox="1"/>
          <p:nvPr/>
        </p:nvSpPr>
        <p:spPr>
          <a:xfrm>
            <a:off x="4023360" y="2423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Meta 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45% · R$ 1.350</a:t>
            </a:r>
            <a:endParaRPr lang="en-US" sz="1400" dirty="0"/>
          </a:p>
        </p:txBody>
      </p:sp>
      <p:sp>
        <p:nvSpPr>
          <p:cNvPr id="9" name="Legenda Google Ads - cor"/>
          <p:cNvSpPr/>
          <p:nvPr/>
        </p:nvSpPr>
        <p:spPr>
          <a:xfrm>
            <a:off x="3703320" y="313639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Legenda Google Ads"/>
          <p:cNvSpPr txBox="1"/>
          <p:nvPr/>
        </p:nvSpPr>
        <p:spPr>
          <a:xfrm>
            <a:off x="4023360" y="3081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Google 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25% · R$ 750</a:t>
            </a:r>
            <a:endParaRPr lang="en-US" sz="1400" dirty="0"/>
          </a:p>
        </p:txBody>
      </p:sp>
      <p:sp>
        <p:nvSpPr>
          <p:cNvPr id="11" name="Legenda iFood Ads - cor"/>
          <p:cNvSpPr/>
          <p:nvPr/>
        </p:nvSpPr>
        <p:spPr>
          <a:xfrm>
            <a:off x="3703320" y="379476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Legenda iFood Ads"/>
          <p:cNvSpPr txBox="1"/>
          <p:nvPr/>
        </p:nvSpPr>
        <p:spPr>
          <a:xfrm>
            <a:off x="4023360" y="3739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iFood 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15% · R$ 450</a:t>
            </a:r>
            <a:endParaRPr lang="en-US" sz="1400" dirty="0"/>
          </a:p>
        </p:txBody>
      </p:sp>
      <p:sp>
        <p:nvSpPr>
          <p:cNvPr id="13" name="Legenda Remarketing - cor"/>
          <p:cNvSpPr/>
          <p:nvPr/>
        </p:nvSpPr>
        <p:spPr>
          <a:xfrm>
            <a:off x="3703320" y="445312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Legenda Remarketing"/>
          <p:cNvSpPr txBox="1"/>
          <p:nvPr/>
        </p:nvSpPr>
        <p:spPr>
          <a:xfrm>
            <a:off x="4023360" y="4398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Remarketing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15% · R$ 450</a:t>
            </a:r>
            <a:endParaRPr lang="en-US" sz="1400" dirty="0"/>
          </a:p>
        </p:txBody>
      </p:sp>
      <p:sp>
        <p:nvSpPr>
          <p:cNvPr id="15" name="Regra de escala"/>
          <p:cNvSpPr/>
          <p:nvPr/>
        </p:nvSpPr>
        <p:spPr>
          <a:xfrm>
            <a:off x="548640" y="5440680"/>
            <a:ext cx="530352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6" name="Escala - círculo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Escala - ícone" descr="Esca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5607101"/>
            <a:ext cx="261518" cy="261518"/>
          </a:xfrm>
          <a:prstGeom prst="rect">
            <a:avLst/>
          </a:prstGeom>
        </p:spPr>
      </p:pic>
      <p:sp>
        <p:nvSpPr>
          <p:cNvPr id="18" name="Regra de escala - texto"/>
          <p:cNvSpPr txBox="1"/>
          <p:nvPr/>
        </p:nvSpPr>
        <p:spPr>
          <a:xfrm>
            <a:off x="1417320" y="54406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Regra de escala: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aumente a verba dos vencedores em até 20% a cada 3–4 dias.</a:t>
            </a:r>
            <a:endParaRPr lang="en-US" sz="1400" dirty="0"/>
          </a:p>
        </p:txBody>
      </p:sp>
      <p:sp>
        <p:nvSpPr>
          <p:cNvPr id="19" name="Cenários - título"/>
          <p:cNvSpPr txBox="1"/>
          <p:nvPr/>
        </p:nvSpPr>
        <p:spPr>
          <a:xfrm>
            <a:off x="6263640" y="1783080"/>
            <a:ext cx="5379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Três cenários de investimento</a:t>
            </a:r>
            <a:endParaRPr lang="en-US" sz="1600" dirty="0"/>
          </a:p>
        </p:txBody>
      </p:sp>
      <p:sp>
        <p:nvSpPr>
          <p:cNvPr id="20" name="Cenário Inicial"/>
          <p:cNvSpPr/>
          <p:nvPr/>
        </p:nvSpPr>
        <p:spPr>
          <a:xfrm>
            <a:off x="6263640" y="2240280"/>
            <a:ext cx="5379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1" name="Cenário Inicial - valor"/>
          <p:cNvSpPr txBox="1"/>
          <p:nvPr/>
        </p:nvSpPr>
        <p:spPr>
          <a:xfrm>
            <a:off x="6537960" y="22402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R$ 1.500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por mês · ~R$ 50/dia</a:t>
            </a:r>
            <a:endParaRPr lang="en-US" sz="1400" dirty="0"/>
          </a:p>
        </p:txBody>
      </p:sp>
      <p:sp>
        <p:nvSpPr>
          <p:cNvPr id="22" name="Cenário Inicial - descrição"/>
          <p:cNvSpPr txBox="1"/>
          <p:nvPr/>
        </p:nvSpPr>
        <p:spPr>
          <a:xfrm>
            <a:off x="8823960" y="2240280"/>
            <a:ext cx="25904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Inicial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Validar criativos e públicos com Meta e Google Pesquisa; iFood opcional.</a:t>
            </a:r>
            <a:endParaRPr lang="en-US" sz="1400" dirty="0"/>
          </a:p>
        </p:txBody>
      </p:sp>
      <p:sp>
        <p:nvSpPr>
          <p:cNvPr id="23" name="Cenário Crescimento"/>
          <p:cNvSpPr/>
          <p:nvPr/>
        </p:nvSpPr>
        <p:spPr>
          <a:xfrm>
            <a:off x="6263640" y="3566160"/>
            <a:ext cx="5379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24" name="Cenário Crescimento - valor"/>
          <p:cNvSpPr txBox="1"/>
          <p:nvPr/>
        </p:nvSpPr>
        <p:spPr>
          <a:xfrm>
            <a:off x="6537960" y="3566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R$ 3.000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por mês · ~R$ 100/dia</a:t>
            </a:r>
            <a:endParaRPr lang="en-US" sz="1400" dirty="0"/>
          </a:p>
        </p:txBody>
      </p:sp>
      <p:sp>
        <p:nvSpPr>
          <p:cNvPr id="25" name="Cenário Crescimento - descrição"/>
          <p:cNvSpPr txBox="1"/>
          <p:nvPr/>
        </p:nvSpPr>
        <p:spPr>
          <a:xfrm>
            <a:off x="8823960" y="3566160"/>
            <a:ext cx="25904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Crescimento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Todos os canais ativos, remarketing e testes A/B toda semana.</a:t>
            </a:r>
            <a:endParaRPr lang="en-US" sz="1400" dirty="0"/>
          </a:p>
        </p:txBody>
      </p:sp>
      <p:sp>
        <p:nvSpPr>
          <p:cNvPr id="26" name="Cenário Escala"/>
          <p:cNvSpPr/>
          <p:nvPr/>
        </p:nvSpPr>
        <p:spPr>
          <a:xfrm>
            <a:off x="6263640" y="4892040"/>
            <a:ext cx="5379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7" name="Cenário Escala - valor"/>
          <p:cNvSpPr txBox="1"/>
          <p:nvPr/>
        </p:nvSpPr>
        <p:spPr>
          <a:xfrm>
            <a:off x="6537960" y="48920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R$ 6.000+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por mês · ~R$ 200/dia</a:t>
            </a:r>
            <a:endParaRPr lang="en-US" sz="1400" dirty="0"/>
          </a:p>
        </p:txBody>
      </p:sp>
      <p:sp>
        <p:nvSpPr>
          <p:cNvPr id="28" name="Cenário Escala - descrição"/>
          <p:cNvSpPr txBox="1"/>
          <p:nvPr/>
        </p:nvSpPr>
        <p:spPr>
          <a:xfrm>
            <a:off x="8823960" y="4892040"/>
            <a:ext cx="25904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Escala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Datas sazonais, novos bairros e vendas corporativas.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Criativos que dão água na boca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Os 2 primeiros segundos decidem: produza de 8 a 12 vídeos novos por mês</a:t>
            </a:r>
            <a:endParaRPr lang="en-US" sz="1600" dirty="0"/>
          </a:p>
        </p:txBody>
      </p:sp>
      <p:sp>
        <p:nvSpPr>
          <p:cNvPr id="4" name="Celular"/>
          <p:cNvSpPr/>
          <p:nvPr/>
        </p:nvSpPr>
        <p:spPr>
          <a:xfrm>
            <a:off x="548640" y="1783080"/>
            <a:ext cx="2834640" cy="4343400"/>
          </a:xfrm>
          <a:prstGeom prst="roundRect">
            <a:avLst>
              <a:gd name="adj" fmla="val 1129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5" name="Tela"/>
          <p:cNvSpPr/>
          <p:nvPr/>
        </p:nvSpPr>
        <p:spPr>
          <a:xfrm>
            <a:off x="685800" y="2103120"/>
            <a:ext cx="2560320" cy="38862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Alto-falante"/>
          <p:cNvSpPr/>
          <p:nvPr/>
        </p:nvSpPr>
        <p:spPr>
          <a:xfrm>
            <a:off x="1600200" y="1901952"/>
            <a:ext cx="731520" cy="914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" name="Roteiro 1"/>
          <p:cNvSpPr txBox="1"/>
          <p:nvPr/>
        </p:nvSpPr>
        <p:spPr>
          <a:xfrm>
            <a:off x="868680" y="2240280"/>
            <a:ext cx="21945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0–2 s · Gancho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Faca cortando o bolo, recheio escorrendo</a:t>
            </a:r>
            <a:endParaRPr lang="en-US" sz="1400" dirty="0"/>
          </a:p>
        </p:txBody>
      </p:sp>
      <p:sp>
        <p:nvSpPr>
          <p:cNvPr id="8" name="Roteiro 2"/>
          <p:cNvSpPr txBox="1"/>
          <p:nvPr/>
        </p:nvSpPr>
        <p:spPr>
          <a:xfrm>
            <a:off x="868680" y="3143250"/>
            <a:ext cx="21945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2–8 s · Produto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Close, textura e o nome do doce</a:t>
            </a:r>
            <a:endParaRPr lang="en-US" sz="1400" dirty="0"/>
          </a:p>
        </p:txBody>
      </p:sp>
      <p:sp>
        <p:nvSpPr>
          <p:cNvPr id="9" name="Roteiro 3"/>
          <p:cNvSpPr txBox="1"/>
          <p:nvPr/>
        </p:nvSpPr>
        <p:spPr>
          <a:xfrm>
            <a:off x="868680" y="4046220"/>
            <a:ext cx="21945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8–12 s · Prova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 provando ou avaliação 5 estrelas</a:t>
            </a:r>
            <a:endParaRPr lang="en-US" sz="1400" dirty="0"/>
          </a:p>
        </p:txBody>
      </p:sp>
      <p:sp>
        <p:nvSpPr>
          <p:cNvPr id="10" name="Roteiro 4"/>
          <p:cNvSpPr txBox="1"/>
          <p:nvPr/>
        </p:nvSpPr>
        <p:spPr>
          <a:xfrm>
            <a:off x="868680" y="4949190"/>
            <a:ext cx="21945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12–15 s · Chamada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“Peça agora no WhatsApp”</a:t>
            </a:r>
            <a:endParaRPr lang="en-US" sz="1400" dirty="0"/>
          </a:p>
        </p:txBody>
      </p:sp>
      <p:sp>
        <p:nvSpPr>
          <p:cNvPr id="11" name="Close sensorial - círculo"/>
          <p:cNvSpPr/>
          <p:nvPr/>
        </p:nvSpPr>
        <p:spPr>
          <a:xfrm>
            <a:off x="384048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lose sensorial - ícone" descr="Close sensor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4099" y="1982419"/>
            <a:ext cx="332842" cy="332842"/>
          </a:xfrm>
          <a:prstGeom prst="rect">
            <a:avLst/>
          </a:prstGeom>
        </p:spPr>
      </p:pic>
      <p:sp>
        <p:nvSpPr>
          <p:cNvPr id="13" name="Criativo Close sensorial"/>
          <p:cNvSpPr txBox="1"/>
          <p:nvPr/>
        </p:nvSpPr>
        <p:spPr>
          <a:xfrm>
            <a:off x="4709160" y="178308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Close sensorial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Corte do bolo, brigadeiro sendo enrolado, calda caindo em câmera lenta.</a:t>
            </a:r>
            <a:endParaRPr lang="en-US" sz="1400" dirty="0"/>
          </a:p>
        </p:txBody>
      </p:sp>
      <p:sp>
        <p:nvSpPr>
          <p:cNvPr id="14" name="Bastidores - círculo"/>
          <p:cNvSpPr/>
          <p:nvPr/>
        </p:nvSpPr>
        <p:spPr>
          <a:xfrm>
            <a:off x="3840480" y="273177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Bastidores - ícone" descr="Bastid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099" y="2885389"/>
            <a:ext cx="332842" cy="332842"/>
          </a:xfrm>
          <a:prstGeom prst="rect">
            <a:avLst/>
          </a:prstGeom>
        </p:spPr>
      </p:pic>
      <p:sp>
        <p:nvSpPr>
          <p:cNvPr id="16" name="Criativo Bastidores"/>
          <p:cNvSpPr txBox="1"/>
          <p:nvPr/>
        </p:nvSpPr>
        <p:spPr>
          <a:xfrm>
            <a:off x="4709160" y="268605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Bastidores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Produção artesanal, ingredientes e as mãos de quem faz os doces.</a:t>
            </a:r>
            <a:endParaRPr lang="en-US" sz="1400" dirty="0"/>
          </a:p>
        </p:txBody>
      </p:sp>
      <p:sp>
        <p:nvSpPr>
          <p:cNvPr id="17" name="Reação e depoimentos - círculo"/>
          <p:cNvSpPr/>
          <p:nvPr/>
        </p:nvSpPr>
        <p:spPr>
          <a:xfrm>
            <a:off x="3840480" y="36347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Reação e depoimentos - ícone" descr="Reação e depoimen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099" y="3788359"/>
            <a:ext cx="332842" cy="332842"/>
          </a:xfrm>
          <a:prstGeom prst="rect">
            <a:avLst/>
          </a:prstGeom>
        </p:spPr>
      </p:pic>
      <p:sp>
        <p:nvSpPr>
          <p:cNvPr id="19" name="Criativo Reação e depoimentos"/>
          <p:cNvSpPr txBox="1"/>
          <p:nvPr/>
        </p:nvSpPr>
        <p:spPr>
          <a:xfrm>
            <a:off x="4709160" y="358902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Reação e depoimentos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 abrindo a caixa, provando e avaliando: prova social real.</a:t>
            </a:r>
            <a:endParaRPr lang="en-US" sz="1400" dirty="0"/>
          </a:p>
        </p:txBody>
      </p:sp>
      <p:sp>
        <p:nvSpPr>
          <p:cNvPr id="20" name="Oferta clara - círculo"/>
          <p:cNvSpPr/>
          <p:nvPr/>
        </p:nvSpPr>
        <p:spPr>
          <a:xfrm>
            <a:off x="3840480" y="453771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Oferta clara - ícone" descr="Oferta cla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099" y="4691329"/>
            <a:ext cx="332842" cy="332842"/>
          </a:xfrm>
          <a:prstGeom prst="rect">
            <a:avLst/>
          </a:prstGeom>
        </p:spPr>
      </p:pic>
      <p:sp>
        <p:nvSpPr>
          <p:cNvPr id="22" name="Criativo Oferta clara"/>
          <p:cNvSpPr txBox="1"/>
          <p:nvPr/>
        </p:nvSpPr>
        <p:spPr>
          <a:xfrm>
            <a:off x="4709160" y="449199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Oferta clara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Preço, combo, frete grátis no raio ou cupom de primeiro pedido.</a:t>
            </a:r>
            <a:endParaRPr lang="en-US" sz="1400" dirty="0"/>
          </a:p>
        </p:txBody>
      </p:sp>
      <p:sp>
        <p:nvSpPr>
          <p:cNvPr id="23" name="Ocasião - círculo"/>
          <p:cNvSpPr/>
          <p:nvPr/>
        </p:nvSpPr>
        <p:spPr>
          <a:xfrm>
            <a:off x="3840480" y="5440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Ocasião - ícone" descr="Ocasi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099" y="5594299"/>
            <a:ext cx="332842" cy="332842"/>
          </a:xfrm>
          <a:prstGeom prst="rect">
            <a:avLst/>
          </a:prstGeom>
        </p:spPr>
      </p:pic>
      <p:sp>
        <p:nvSpPr>
          <p:cNvPr id="25" name="Criativo Ocasião"/>
          <p:cNvSpPr txBox="1"/>
          <p:nvPr/>
        </p:nvSpPr>
        <p:spPr>
          <a:xfrm>
            <a:off x="4709160" y="539496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Ocasião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“Seu aniversário merece isso”: data, produto e prazo de encomenda.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Calendário de datas que vendem doce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Comece a anunciar 2–3 semanas antes de cada data e aumente a verba em 30–50% no pico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1010907" y="3931920"/>
            <a:ext cx="10169881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Mês JAN"/>
          <p:cNvSpPr/>
          <p:nvPr/>
        </p:nvSpPr>
        <p:spPr>
          <a:xfrm>
            <a:off x="759447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Mês JAN - rótulo"/>
          <p:cNvSpPr txBox="1"/>
          <p:nvPr/>
        </p:nvSpPr>
        <p:spPr>
          <a:xfrm>
            <a:off x="759447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JAN</a:t>
            </a:r>
            <a:endParaRPr lang="en-US" sz="1000" dirty="0"/>
          </a:p>
        </p:txBody>
      </p:sp>
      <p:sp>
        <p:nvSpPr>
          <p:cNvPr id="7" name="Mês FEV"/>
          <p:cNvSpPr/>
          <p:nvPr/>
        </p:nvSpPr>
        <p:spPr>
          <a:xfrm>
            <a:off x="1683982" y="368046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" name="Mês FEV - rótulo"/>
          <p:cNvSpPr txBox="1"/>
          <p:nvPr/>
        </p:nvSpPr>
        <p:spPr>
          <a:xfrm>
            <a:off x="1683982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FEV</a:t>
            </a:r>
            <a:endParaRPr lang="en-US" sz="1000" dirty="0"/>
          </a:p>
        </p:txBody>
      </p:sp>
      <p:sp>
        <p:nvSpPr>
          <p:cNvPr id="9" name="Mês MAR"/>
          <p:cNvSpPr/>
          <p:nvPr/>
        </p:nvSpPr>
        <p:spPr>
          <a:xfrm>
            <a:off x="2608517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Mês MAR - rótulo"/>
          <p:cNvSpPr txBox="1"/>
          <p:nvPr/>
        </p:nvSpPr>
        <p:spPr>
          <a:xfrm>
            <a:off x="2608517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MAR</a:t>
            </a:r>
            <a:endParaRPr lang="en-US" sz="1000" dirty="0"/>
          </a:p>
        </p:txBody>
      </p:sp>
      <p:sp>
        <p:nvSpPr>
          <p:cNvPr id="11" name="Mês ABR"/>
          <p:cNvSpPr/>
          <p:nvPr/>
        </p:nvSpPr>
        <p:spPr>
          <a:xfrm>
            <a:off x="3533051" y="368046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Mês ABR - rótulo"/>
          <p:cNvSpPr txBox="1"/>
          <p:nvPr/>
        </p:nvSpPr>
        <p:spPr>
          <a:xfrm>
            <a:off x="3533051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ABR</a:t>
            </a:r>
            <a:endParaRPr lang="en-US" sz="1000" dirty="0"/>
          </a:p>
        </p:txBody>
      </p:sp>
      <p:sp>
        <p:nvSpPr>
          <p:cNvPr id="13" name="Mês MAI"/>
          <p:cNvSpPr/>
          <p:nvPr/>
        </p:nvSpPr>
        <p:spPr>
          <a:xfrm>
            <a:off x="4457586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Mês MAI - rótulo"/>
          <p:cNvSpPr txBox="1"/>
          <p:nvPr/>
        </p:nvSpPr>
        <p:spPr>
          <a:xfrm>
            <a:off x="4457586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MAI</a:t>
            </a:r>
            <a:endParaRPr lang="en-US" sz="1000" dirty="0"/>
          </a:p>
        </p:txBody>
      </p:sp>
      <p:sp>
        <p:nvSpPr>
          <p:cNvPr id="15" name="Mês JUN"/>
          <p:cNvSpPr/>
          <p:nvPr/>
        </p:nvSpPr>
        <p:spPr>
          <a:xfrm>
            <a:off x="5382120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Mês JUN - rótulo"/>
          <p:cNvSpPr txBox="1"/>
          <p:nvPr/>
        </p:nvSpPr>
        <p:spPr>
          <a:xfrm>
            <a:off x="5382120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JUN</a:t>
            </a:r>
            <a:endParaRPr lang="en-US" sz="1000" dirty="0"/>
          </a:p>
        </p:txBody>
      </p:sp>
      <p:sp>
        <p:nvSpPr>
          <p:cNvPr id="17" name="Mês JUL"/>
          <p:cNvSpPr/>
          <p:nvPr/>
        </p:nvSpPr>
        <p:spPr>
          <a:xfrm>
            <a:off x="6306655" y="368046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8" name="Mês JUL - rótulo"/>
          <p:cNvSpPr txBox="1"/>
          <p:nvPr/>
        </p:nvSpPr>
        <p:spPr>
          <a:xfrm>
            <a:off x="6306655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JUL</a:t>
            </a:r>
            <a:endParaRPr lang="en-US" sz="1000" dirty="0"/>
          </a:p>
        </p:txBody>
      </p:sp>
      <p:sp>
        <p:nvSpPr>
          <p:cNvPr id="19" name="Mês AGO"/>
          <p:cNvSpPr/>
          <p:nvPr/>
        </p:nvSpPr>
        <p:spPr>
          <a:xfrm>
            <a:off x="7231190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Mês AGO - rótulo"/>
          <p:cNvSpPr txBox="1"/>
          <p:nvPr/>
        </p:nvSpPr>
        <p:spPr>
          <a:xfrm>
            <a:off x="7231190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AGO</a:t>
            </a:r>
            <a:endParaRPr lang="en-US" sz="1000" dirty="0"/>
          </a:p>
        </p:txBody>
      </p:sp>
      <p:sp>
        <p:nvSpPr>
          <p:cNvPr id="21" name="Mês SET"/>
          <p:cNvSpPr/>
          <p:nvPr/>
        </p:nvSpPr>
        <p:spPr>
          <a:xfrm>
            <a:off x="8155724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Mês SET - rótulo"/>
          <p:cNvSpPr txBox="1"/>
          <p:nvPr/>
        </p:nvSpPr>
        <p:spPr>
          <a:xfrm>
            <a:off x="8155724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SET</a:t>
            </a:r>
            <a:endParaRPr lang="en-US" sz="1000" dirty="0"/>
          </a:p>
        </p:txBody>
      </p:sp>
      <p:sp>
        <p:nvSpPr>
          <p:cNvPr id="23" name="Mês OUT"/>
          <p:cNvSpPr/>
          <p:nvPr/>
        </p:nvSpPr>
        <p:spPr>
          <a:xfrm>
            <a:off x="9080259" y="368046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4" name="Mês OUT - rótulo"/>
          <p:cNvSpPr txBox="1"/>
          <p:nvPr/>
        </p:nvSpPr>
        <p:spPr>
          <a:xfrm>
            <a:off x="9080259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OUT</a:t>
            </a:r>
            <a:endParaRPr lang="en-US" sz="1000" dirty="0"/>
          </a:p>
        </p:txBody>
      </p:sp>
      <p:sp>
        <p:nvSpPr>
          <p:cNvPr id="25" name="Mês NOV"/>
          <p:cNvSpPr/>
          <p:nvPr/>
        </p:nvSpPr>
        <p:spPr>
          <a:xfrm>
            <a:off x="10004793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Mês NOV - rótulo"/>
          <p:cNvSpPr txBox="1"/>
          <p:nvPr/>
        </p:nvSpPr>
        <p:spPr>
          <a:xfrm>
            <a:off x="10004793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NOV</a:t>
            </a:r>
            <a:endParaRPr lang="en-US" sz="1000" dirty="0"/>
          </a:p>
        </p:txBody>
      </p:sp>
      <p:sp>
        <p:nvSpPr>
          <p:cNvPr id="27" name="Mês DEZ"/>
          <p:cNvSpPr/>
          <p:nvPr/>
        </p:nvSpPr>
        <p:spPr>
          <a:xfrm>
            <a:off x="10929328" y="36804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8" name="Mês DEZ - rótulo"/>
          <p:cNvSpPr txBox="1"/>
          <p:nvPr/>
        </p:nvSpPr>
        <p:spPr>
          <a:xfrm>
            <a:off x="10929328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DEZ</a:t>
            </a:r>
            <a:endParaRPr lang="en-US" sz="1000" dirty="0"/>
          </a:p>
        </p:txBody>
      </p:sp>
      <p:sp>
        <p:nvSpPr>
          <p:cNvPr id="29" name="Conector Ano todo"/>
          <p:cNvSpPr/>
          <p:nvPr/>
        </p:nvSpPr>
        <p:spPr>
          <a:xfrm>
            <a:off x="1010907" y="418338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0" name="Data Ano todo"/>
          <p:cNvSpPr/>
          <p:nvPr/>
        </p:nvSpPr>
        <p:spPr>
          <a:xfrm>
            <a:off x="548640" y="450342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1" name="Data Ano todo - texto"/>
          <p:cNvSpPr txBox="1"/>
          <p:nvPr/>
        </p:nvSpPr>
        <p:spPr>
          <a:xfrm>
            <a:off x="685800" y="461314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Ano todo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Bolos de aniversário: campanha sempre ativa</a:t>
            </a:r>
            <a:endParaRPr lang="en-US" sz="1400" dirty="0"/>
          </a:p>
        </p:txBody>
      </p:sp>
      <p:sp>
        <p:nvSpPr>
          <p:cNvPr id="32" name="Conector Páscoa"/>
          <p:cNvSpPr/>
          <p:nvPr/>
        </p:nvSpPr>
        <p:spPr>
          <a:xfrm>
            <a:off x="2859977" y="3360420"/>
            <a:ext cx="0" cy="320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3" name="Data Páscoa"/>
          <p:cNvSpPr/>
          <p:nvPr/>
        </p:nvSpPr>
        <p:spPr>
          <a:xfrm>
            <a:off x="2014157" y="21717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34" name="Data Páscoa - texto"/>
          <p:cNvSpPr txBox="1"/>
          <p:nvPr/>
        </p:nvSpPr>
        <p:spPr>
          <a:xfrm>
            <a:off x="2151317" y="228142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Páscoa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Ovos de colher e trufados: maior pico</a:t>
            </a:r>
            <a:endParaRPr lang="en-US" sz="1400" dirty="0"/>
          </a:p>
        </p:txBody>
      </p:sp>
      <p:sp>
        <p:nvSpPr>
          <p:cNvPr id="35" name="Conector Dia das Mães"/>
          <p:cNvSpPr/>
          <p:nvPr/>
        </p:nvSpPr>
        <p:spPr>
          <a:xfrm>
            <a:off x="4709046" y="418338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6" name="Data Dia das Mães"/>
          <p:cNvSpPr/>
          <p:nvPr/>
        </p:nvSpPr>
        <p:spPr>
          <a:xfrm>
            <a:off x="3863226" y="450342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7" name="Data Dia das Mães - texto"/>
          <p:cNvSpPr txBox="1"/>
          <p:nvPr/>
        </p:nvSpPr>
        <p:spPr>
          <a:xfrm>
            <a:off x="4000386" y="461314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 das Mães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Caixas de presente e bolos</a:t>
            </a:r>
            <a:endParaRPr lang="en-US" sz="1400" dirty="0"/>
          </a:p>
        </p:txBody>
      </p:sp>
      <p:sp>
        <p:nvSpPr>
          <p:cNvPr id="38" name="Conector Namorados e Junina"/>
          <p:cNvSpPr/>
          <p:nvPr/>
        </p:nvSpPr>
        <p:spPr>
          <a:xfrm>
            <a:off x="5633580" y="33604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9" name="Data Namorados e Junina"/>
          <p:cNvSpPr/>
          <p:nvPr/>
        </p:nvSpPr>
        <p:spPr>
          <a:xfrm>
            <a:off x="4787760" y="21717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0" name="Data Namorados e Junina - texto"/>
          <p:cNvSpPr txBox="1"/>
          <p:nvPr/>
        </p:nvSpPr>
        <p:spPr>
          <a:xfrm>
            <a:off x="4924920" y="228142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Namorados e Junina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Kits para casal e doces juninos</a:t>
            </a:r>
            <a:endParaRPr lang="en-US" sz="1400" dirty="0"/>
          </a:p>
        </p:txBody>
      </p:sp>
      <p:sp>
        <p:nvSpPr>
          <p:cNvPr id="41" name="Conector Dia dos Pais"/>
          <p:cNvSpPr/>
          <p:nvPr/>
        </p:nvSpPr>
        <p:spPr>
          <a:xfrm>
            <a:off x="7482650" y="418338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2" name="Data Dia dos Pais"/>
          <p:cNvSpPr/>
          <p:nvPr/>
        </p:nvSpPr>
        <p:spPr>
          <a:xfrm>
            <a:off x="6636830" y="450342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3" name="Data Dia dos Pais - texto"/>
          <p:cNvSpPr txBox="1"/>
          <p:nvPr/>
        </p:nvSpPr>
        <p:spPr>
          <a:xfrm>
            <a:off x="6773990" y="461314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 dos Pais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Tortas e caixas de presente</a:t>
            </a:r>
            <a:endParaRPr lang="en-US" sz="1400" dirty="0"/>
          </a:p>
        </p:txBody>
      </p:sp>
      <p:sp>
        <p:nvSpPr>
          <p:cNvPr id="44" name="Conector Cosme e Damião"/>
          <p:cNvSpPr/>
          <p:nvPr/>
        </p:nvSpPr>
        <p:spPr>
          <a:xfrm>
            <a:off x="8407184" y="33604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5" name="Data Cosme e Damião"/>
          <p:cNvSpPr/>
          <p:nvPr/>
        </p:nvSpPr>
        <p:spPr>
          <a:xfrm>
            <a:off x="7561364" y="21717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6" name="Data Cosme e Damião - texto"/>
          <p:cNvSpPr txBox="1"/>
          <p:nvPr/>
        </p:nvSpPr>
        <p:spPr>
          <a:xfrm>
            <a:off x="7698524" y="228142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Cosme e Damião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Saquinhos de doce e Dia das Crianças</a:t>
            </a:r>
            <a:endParaRPr lang="en-US" sz="1400" dirty="0"/>
          </a:p>
        </p:txBody>
      </p:sp>
      <p:sp>
        <p:nvSpPr>
          <p:cNvPr id="47" name="Conector Black Friday"/>
          <p:cNvSpPr/>
          <p:nvPr/>
        </p:nvSpPr>
        <p:spPr>
          <a:xfrm>
            <a:off x="10256253" y="418338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8" name="Data Black Friday"/>
          <p:cNvSpPr/>
          <p:nvPr/>
        </p:nvSpPr>
        <p:spPr>
          <a:xfrm>
            <a:off x="9410433" y="450342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9" name="Data Black Friday - texto"/>
          <p:cNvSpPr txBox="1"/>
          <p:nvPr/>
        </p:nvSpPr>
        <p:spPr>
          <a:xfrm>
            <a:off x="9547593" y="461314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Black Friday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Combos e kits corporativos de fim de ano</a:t>
            </a:r>
            <a:endParaRPr lang="en-US" sz="1400" dirty="0"/>
          </a:p>
        </p:txBody>
      </p:sp>
      <p:sp>
        <p:nvSpPr>
          <p:cNvPr id="50" name="Conector Natal e Réveillon"/>
          <p:cNvSpPr/>
          <p:nvPr/>
        </p:nvSpPr>
        <p:spPr>
          <a:xfrm>
            <a:off x="11180788" y="3360420"/>
            <a:ext cx="0" cy="320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1" name="Data Natal e Réveillon"/>
          <p:cNvSpPr/>
          <p:nvPr/>
        </p:nvSpPr>
        <p:spPr>
          <a:xfrm>
            <a:off x="9951415" y="21717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52" name="Data Natal e Réveillon - texto"/>
          <p:cNvSpPr txBox="1"/>
          <p:nvPr/>
        </p:nvSpPr>
        <p:spPr>
          <a:xfrm>
            <a:off x="10088575" y="228142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Natal e Réveillon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Panetones, tortas e kits: pico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Plano de 90 dias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Estruturar, otimizar e escalar: uma fase por mês, com revisão toda segunda-feira</a:t>
            </a:r>
            <a:endParaRPr lang="en-US" sz="1600" dirty="0"/>
          </a:p>
        </p:txBody>
      </p:sp>
      <p:sp>
        <p:nvSpPr>
          <p:cNvPr id="4" name="Fase Estruturar"/>
          <p:cNvSpPr/>
          <p:nvPr/>
        </p:nvSpPr>
        <p:spPr>
          <a:xfrm>
            <a:off x="548640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5" name="Fase Estruturar - círculo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Fase Estruturar - número"/>
          <p:cNvSpPr txBox="1"/>
          <p:nvPr/>
        </p:nvSpPr>
        <p:spPr>
          <a:xfrm>
            <a:off x="8229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Fase Estruturar - título"/>
          <p:cNvSpPr txBox="1"/>
          <p:nvPr/>
        </p:nvSpPr>
        <p:spPr>
          <a:xfrm>
            <a:off x="1737360" y="205740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MÊS 1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Estruturar</a:t>
            </a:r>
            <a:endParaRPr lang="en-US" sz="1400" dirty="0"/>
          </a:p>
        </p:txBody>
      </p:sp>
      <p:sp>
        <p:nvSpPr>
          <p:cNvPr id="8" name="Fase Estruturar - ações"/>
          <p:cNvSpPr txBox="1"/>
          <p:nvPr/>
        </p:nvSpPr>
        <p:spPr>
          <a:xfrm>
            <a:off x="822960" y="306324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Instalar Pixel, API de Conversões e tag do Google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Completar o Perfil da Empresa: fotos, horários e avaliações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WhatsApp Business com catálogo e respostas rápidas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Testar 3 públicos com 4 a 6 criativos cada</a:t>
            </a:r>
            <a:endParaRPr lang="en-US" sz="1400" dirty="0"/>
          </a:p>
        </p:txBody>
      </p:sp>
      <p:sp>
        <p:nvSpPr>
          <p:cNvPr id="9" name="Fase Estruturar - entrega"/>
          <p:cNvSpPr/>
          <p:nvPr/>
        </p:nvSpPr>
        <p:spPr>
          <a:xfrm>
            <a:off x="777240" y="5257800"/>
            <a:ext cx="3058058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10" name="Fase Estruturar - entrega texto"/>
          <p:cNvSpPr txBox="1"/>
          <p:nvPr/>
        </p:nvSpPr>
        <p:spPr>
          <a:xfrm>
            <a:off x="960120" y="5257800"/>
            <a:ext cx="26922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Entrega: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rastreamento funcionando e 1º custo por pedido medido</a:t>
            </a:r>
            <a:endParaRPr lang="en-US" sz="1400" dirty="0"/>
          </a:p>
        </p:txBody>
      </p:sp>
      <p:sp>
        <p:nvSpPr>
          <p:cNvPr id="11" name="Fase Otimizar"/>
          <p:cNvSpPr/>
          <p:nvPr/>
        </p:nvSpPr>
        <p:spPr>
          <a:xfrm>
            <a:off x="4338218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2" name="Fase Otimizar - círculo"/>
          <p:cNvSpPr/>
          <p:nvPr/>
        </p:nvSpPr>
        <p:spPr>
          <a:xfrm>
            <a:off x="4612538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Fase Otimizar - número"/>
          <p:cNvSpPr txBox="1"/>
          <p:nvPr/>
        </p:nvSpPr>
        <p:spPr>
          <a:xfrm>
            <a:off x="461253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Fase Otimizar - título"/>
          <p:cNvSpPr txBox="1"/>
          <p:nvPr/>
        </p:nvSpPr>
        <p:spPr>
          <a:xfrm>
            <a:off x="5526938" y="205740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MÊS 2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Otimizar</a:t>
            </a:r>
            <a:endParaRPr lang="en-US" sz="1400" dirty="0"/>
          </a:p>
        </p:txBody>
      </p:sp>
      <p:sp>
        <p:nvSpPr>
          <p:cNvPr id="15" name="Fase Otimizar - ações"/>
          <p:cNvSpPr txBox="1"/>
          <p:nvPr/>
        </p:nvSpPr>
        <p:spPr>
          <a:xfrm>
            <a:off x="4612538" y="306324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Pausar criativos e públicos com CPA acima da meta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Ativar remarketing de 30 e 60 dias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Criar público semelhante a partir da lista de clientes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Testar cupom de 1º pedido contra frete grátis</a:t>
            </a:r>
            <a:endParaRPr lang="en-US" sz="1400" dirty="0"/>
          </a:p>
        </p:txBody>
      </p:sp>
      <p:sp>
        <p:nvSpPr>
          <p:cNvPr id="16" name="Fase Otimizar - entrega"/>
          <p:cNvSpPr/>
          <p:nvPr/>
        </p:nvSpPr>
        <p:spPr>
          <a:xfrm>
            <a:off x="4566818" y="5257800"/>
            <a:ext cx="3058058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17" name="Fase Otimizar - entrega texto"/>
          <p:cNvSpPr txBox="1"/>
          <p:nvPr/>
        </p:nvSpPr>
        <p:spPr>
          <a:xfrm>
            <a:off x="4749698" y="5257800"/>
            <a:ext cx="26922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Entrega: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CPA dentro da meta nos públicos vencedores</a:t>
            </a:r>
            <a:endParaRPr lang="en-US" sz="1400" dirty="0"/>
          </a:p>
        </p:txBody>
      </p:sp>
      <p:sp>
        <p:nvSpPr>
          <p:cNvPr id="18" name="Fase Escalar"/>
          <p:cNvSpPr/>
          <p:nvPr/>
        </p:nvSpPr>
        <p:spPr>
          <a:xfrm>
            <a:off x="8127797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9" name="Fase Escalar - círculo"/>
          <p:cNvSpPr/>
          <p:nvPr/>
        </p:nvSpPr>
        <p:spPr>
          <a:xfrm>
            <a:off x="8402117" y="20574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Fase Escalar - número"/>
          <p:cNvSpPr txBox="1"/>
          <p:nvPr/>
        </p:nvSpPr>
        <p:spPr>
          <a:xfrm>
            <a:off x="8402117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Fase Escalar - título"/>
          <p:cNvSpPr txBox="1"/>
          <p:nvPr/>
        </p:nvSpPr>
        <p:spPr>
          <a:xfrm>
            <a:off x="9316517" y="205740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MÊS 3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Escalar</a:t>
            </a:r>
            <a:endParaRPr lang="en-US" sz="1400" dirty="0"/>
          </a:p>
        </p:txBody>
      </p:sp>
      <p:sp>
        <p:nvSpPr>
          <p:cNvPr id="22" name="Fase Escalar - ações"/>
          <p:cNvSpPr txBox="1"/>
          <p:nvPr/>
        </p:nvSpPr>
        <p:spPr>
          <a:xfrm>
            <a:off x="8402117" y="306324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Subir a verba dos vencedores em até 20% a cada 3–4 dias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Lançar a campanha da próxima data sazonal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Expandir para novos bairros e para o corporativo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Relatório mensal: ROAS, CPA, ticket médio e recompra</a:t>
            </a:r>
            <a:endParaRPr lang="en-US" sz="1400" dirty="0"/>
          </a:p>
        </p:txBody>
      </p:sp>
      <p:sp>
        <p:nvSpPr>
          <p:cNvPr id="23" name="Fase Escalar - entrega"/>
          <p:cNvSpPr/>
          <p:nvPr/>
        </p:nvSpPr>
        <p:spPr>
          <a:xfrm>
            <a:off x="8356397" y="5257800"/>
            <a:ext cx="3058058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4" name="Fase Escalar - entrega texto"/>
          <p:cNvSpPr txBox="1"/>
          <p:nvPr/>
        </p:nvSpPr>
        <p:spPr>
          <a:xfrm>
            <a:off x="8539277" y="5257800"/>
            <a:ext cx="26922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Entrega: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ROAS de 3x ou mais com verba maior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Métricas que mostram resultado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Acompanhe toda semana e decida com base em pedidos, não em curtidas</a:t>
            </a:r>
            <a:endParaRPr lang="en-US" sz="1600" dirty="0"/>
          </a:p>
        </p:txBody>
      </p:sp>
      <p:sp>
        <p:nvSpPr>
          <p:cNvPr id="4" name="KPI CPM"/>
          <p:cNvSpPr/>
          <p:nvPr/>
        </p:nvSpPr>
        <p:spPr>
          <a:xfrm>
            <a:off x="548640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5" name="CPM - círculo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CPM - ícone" descr="CP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2381"/>
            <a:ext cx="261518" cy="261518"/>
          </a:xfrm>
          <a:prstGeom prst="rect">
            <a:avLst/>
          </a:prstGeom>
        </p:spPr>
      </p:pic>
      <p:sp>
        <p:nvSpPr>
          <p:cNvPr id="7" name="KPI CPM - nome"/>
          <p:cNvSpPr txBox="1"/>
          <p:nvPr/>
        </p:nvSpPr>
        <p:spPr>
          <a:xfrm>
            <a:off x="1417320" y="201168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CPM</a:t>
            </a:r>
            <a:endParaRPr lang="en-US" sz="1600" dirty="0"/>
          </a:p>
        </p:txBody>
      </p:sp>
      <p:sp>
        <p:nvSpPr>
          <p:cNvPr id="8" name="KPI CPM - valor"/>
          <p:cNvSpPr txBox="1"/>
          <p:nvPr/>
        </p:nvSpPr>
        <p:spPr>
          <a:xfrm>
            <a:off x="777240" y="25603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R$ 8–18</a:t>
            </a:r>
            <a:endParaRPr lang="en-US" sz="3200" dirty="0"/>
          </a:p>
        </p:txBody>
      </p:sp>
      <p:sp>
        <p:nvSpPr>
          <p:cNvPr id="9" name="KPI CPM - descrição"/>
          <p:cNvSpPr txBox="1"/>
          <p:nvPr/>
        </p:nvSpPr>
        <p:spPr>
          <a:xfrm>
            <a:off x="777240" y="31089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Custo para mil pessoas verem o anúncio (alimentação no Meta)</a:t>
            </a:r>
            <a:endParaRPr lang="en-US" sz="1200" dirty="0"/>
          </a:p>
        </p:txBody>
      </p:sp>
      <p:sp>
        <p:nvSpPr>
          <p:cNvPr id="10" name="KPI CTR"/>
          <p:cNvSpPr/>
          <p:nvPr/>
        </p:nvSpPr>
        <p:spPr>
          <a:xfrm>
            <a:off x="4338218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11" name="CTR - círculo"/>
          <p:cNvSpPr/>
          <p:nvPr/>
        </p:nvSpPr>
        <p:spPr>
          <a:xfrm>
            <a:off x="4566818" y="2011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CTR - ícone" descr="CT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2132381"/>
            <a:ext cx="261518" cy="261518"/>
          </a:xfrm>
          <a:prstGeom prst="rect">
            <a:avLst/>
          </a:prstGeom>
        </p:spPr>
      </p:pic>
      <p:sp>
        <p:nvSpPr>
          <p:cNvPr id="13" name="KPI CTR - nome"/>
          <p:cNvSpPr txBox="1"/>
          <p:nvPr/>
        </p:nvSpPr>
        <p:spPr>
          <a:xfrm>
            <a:off x="5206898" y="201168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CTR</a:t>
            </a:r>
            <a:endParaRPr lang="en-US" sz="1600" dirty="0"/>
          </a:p>
        </p:txBody>
      </p:sp>
      <p:sp>
        <p:nvSpPr>
          <p:cNvPr id="14" name="KPI CTR - valor"/>
          <p:cNvSpPr txBox="1"/>
          <p:nvPr/>
        </p:nvSpPr>
        <p:spPr>
          <a:xfrm>
            <a:off x="4566818" y="25603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≥ 1,5%</a:t>
            </a:r>
            <a:endParaRPr lang="en-US" sz="3200" dirty="0"/>
          </a:p>
        </p:txBody>
      </p:sp>
      <p:sp>
        <p:nvSpPr>
          <p:cNvPr id="15" name="KPI CTR - descrição"/>
          <p:cNvSpPr txBox="1"/>
          <p:nvPr/>
        </p:nvSpPr>
        <p:spPr>
          <a:xfrm>
            <a:off x="4566818" y="31089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Cliques divididos por impressões</a:t>
            </a:r>
            <a:endParaRPr lang="en-US" sz="1200" dirty="0"/>
          </a:p>
        </p:txBody>
      </p:sp>
      <p:sp>
        <p:nvSpPr>
          <p:cNvPr id="16" name="KPI Retenção de 3 s"/>
          <p:cNvSpPr/>
          <p:nvPr/>
        </p:nvSpPr>
        <p:spPr>
          <a:xfrm>
            <a:off x="8127797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17" name="Retenção de 3 s - círculo"/>
          <p:cNvSpPr/>
          <p:nvPr/>
        </p:nvSpPr>
        <p:spPr>
          <a:xfrm>
            <a:off x="8356397" y="2011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Retenção de 3 s - ícone" descr="Retenção de 3 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2132381"/>
            <a:ext cx="261518" cy="261518"/>
          </a:xfrm>
          <a:prstGeom prst="rect">
            <a:avLst/>
          </a:prstGeom>
        </p:spPr>
      </p:pic>
      <p:sp>
        <p:nvSpPr>
          <p:cNvPr id="19" name="KPI Retenção de 3 s - nome"/>
          <p:cNvSpPr txBox="1"/>
          <p:nvPr/>
        </p:nvSpPr>
        <p:spPr>
          <a:xfrm>
            <a:off x="8996477" y="201168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Retenção de 3 s</a:t>
            </a:r>
            <a:endParaRPr lang="en-US" sz="1600" dirty="0"/>
          </a:p>
        </p:txBody>
      </p:sp>
      <p:sp>
        <p:nvSpPr>
          <p:cNvPr id="20" name="KPI Retenção de 3 s - valor"/>
          <p:cNvSpPr txBox="1"/>
          <p:nvPr/>
        </p:nvSpPr>
        <p:spPr>
          <a:xfrm>
            <a:off x="8356397" y="25603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≥ 25%</a:t>
            </a:r>
            <a:endParaRPr lang="en-US" sz="3200" dirty="0"/>
          </a:p>
        </p:txBody>
      </p:sp>
      <p:sp>
        <p:nvSpPr>
          <p:cNvPr id="21" name="KPI Retenção de 3 s - descrição"/>
          <p:cNvSpPr txBox="1"/>
          <p:nvPr/>
        </p:nvSpPr>
        <p:spPr>
          <a:xfrm>
            <a:off x="8356397" y="31089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Pessoas que passam do gancho do vídeo</a:t>
            </a:r>
            <a:endParaRPr lang="en-US" sz="1200" dirty="0"/>
          </a:p>
        </p:txBody>
      </p:sp>
      <p:sp>
        <p:nvSpPr>
          <p:cNvPr id="22" name="KPI Custo por conversa"/>
          <p:cNvSpPr/>
          <p:nvPr/>
        </p:nvSpPr>
        <p:spPr>
          <a:xfrm>
            <a:off x="548640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23" name="Custo por conversa - círculo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Custo por conversa - ícone" descr="Custo por convers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261518" cy="261518"/>
          </a:xfrm>
          <a:prstGeom prst="rect">
            <a:avLst/>
          </a:prstGeom>
        </p:spPr>
      </p:pic>
      <p:sp>
        <p:nvSpPr>
          <p:cNvPr id="25" name="KPI Custo por conversa - nome"/>
          <p:cNvSpPr txBox="1"/>
          <p:nvPr/>
        </p:nvSpPr>
        <p:spPr>
          <a:xfrm>
            <a:off x="1417320" y="4114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 por conversa</a:t>
            </a:r>
            <a:endParaRPr lang="en-US" sz="1600" dirty="0"/>
          </a:p>
        </p:txBody>
      </p:sp>
      <p:sp>
        <p:nvSpPr>
          <p:cNvPr id="26" name="KPI Custo por conversa - valor"/>
          <p:cNvSpPr txBox="1"/>
          <p:nvPr/>
        </p:nvSpPr>
        <p:spPr>
          <a:xfrm>
            <a:off x="777240" y="46634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R$ 3–8</a:t>
            </a:r>
            <a:endParaRPr lang="en-US" sz="3200" dirty="0"/>
          </a:p>
        </p:txBody>
      </p:sp>
      <p:sp>
        <p:nvSpPr>
          <p:cNvPr id="27" name="KPI Custo por conversa - descrição"/>
          <p:cNvSpPr txBox="1"/>
          <p:nvPr/>
        </p:nvSpPr>
        <p:spPr>
          <a:xfrm>
            <a:off x="777240" y="5212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Conversa iniciada no WhatsApp a partir do anúncio</a:t>
            </a:r>
            <a:endParaRPr lang="en-US" sz="1200" dirty="0"/>
          </a:p>
        </p:txBody>
      </p:sp>
      <p:sp>
        <p:nvSpPr>
          <p:cNvPr id="28" name="KPI CPA"/>
          <p:cNvSpPr/>
          <p:nvPr/>
        </p:nvSpPr>
        <p:spPr>
          <a:xfrm>
            <a:off x="4338218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29" name="CPA - círculo"/>
          <p:cNvSpPr/>
          <p:nvPr/>
        </p:nvSpPr>
        <p:spPr>
          <a:xfrm>
            <a:off x="4566818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CPA - ícone" descr="CP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261518" cy="261518"/>
          </a:xfrm>
          <a:prstGeom prst="rect">
            <a:avLst/>
          </a:prstGeom>
        </p:spPr>
      </p:pic>
      <p:sp>
        <p:nvSpPr>
          <p:cNvPr id="31" name="KPI CPA - nome"/>
          <p:cNvSpPr txBox="1"/>
          <p:nvPr/>
        </p:nvSpPr>
        <p:spPr>
          <a:xfrm>
            <a:off x="5206898" y="4114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CPA</a:t>
            </a:r>
            <a:endParaRPr lang="en-US" sz="1600" dirty="0"/>
          </a:p>
        </p:txBody>
      </p:sp>
      <p:sp>
        <p:nvSpPr>
          <p:cNvPr id="32" name="KPI CPA - valor"/>
          <p:cNvSpPr txBox="1"/>
          <p:nvPr/>
        </p:nvSpPr>
        <p:spPr>
          <a:xfrm>
            <a:off x="4566818" y="46634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 30%</a:t>
            </a:r>
            <a:endParaRPr lang="en-US" sz="3200" dirty="0"/>
          </a:p>
        </p:txBody>
      </p:sp>
      <p:sp>
        <p:nvSpPr>
          <p:cNvPr id="33" name="KPI CPA - descrição"/>
          <p:cNvSpPr txBox="1"/>
          <p:nvPr/>
        </p:nvSpPr>
        <p:spPr>
          <a:xfrm>
            <a:off x="4566818" y="5212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Custo por pedido em relação ao ticket médio</a:t>
            </a:r>
            <a:endParaRPr lang="en-US" sz="1200" dirty="0"/>
          </a:p>
        </p:txBody>
      </p:sp>
      <p:sp>
        <p:nvSpPr>
          <p:cNvPr id="34" name="KPI ROAS"/>
          <p:cNvSpPr/>
          <p:nvPr/>
        </p:nvSpPr>
        <p:spPr>
          <a:xfrm>
            <a:off x="8127797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2B1712">
                <a:alpha val="12000"/>
              </a:srgbClr>
            </a:outerShdw>
          </a:effectLst>
        </p:spPr>
      </p:sp>
      <p:sp>
        <p:nvSpPr>
          <p:cNvPr id="35" name="ROAS - círculo"/>
          <p:cNvSpPr/>
          <p:nvPr/>
        </p:nvSpPr>
        <p:spPr>
          <a:xfrm>
            <a:off x="8356397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ROAS - ícone" descr="ROA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261518" cy="261518"/>
          </a:xfrm>
          <a:prstGeom prst="rect">
            <a:avLst/>
          </a:prstGeom>
        </p:spPr>
      </p:pic>
      <p:sp>
        <p:nvSpPr>
          <p:cNvPr id="37" name="KPI ROAS - nome"/>
          <p:cNvSpPr txBox="1"/>
          <p:nvPr/>
        </p:nvSpPr>
        <p:spPr>
          <a:xfrm>
            <a:off x="8996477" y="4114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ROAS</a:t>
            </a:r>
            <a:endParaRPr lang="en-US" sz="1600" dirty="0"/>
          </a:p>
        </p:txBody>
      </p:sp>
      <p:sp>
        <p:nvSpPr>
          <p:cNvPr id="38" name="KPI ROAS - valor"/>
          <p:cNvSpPr txBox="1"/>
          <p:nvPr/>
        </p:nvSpPr>
        <p:spPr>
          <a:xfrm>
            <a:off x="8356397" y="46634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≥ 3x</a:t>
            </a:r>
            <a:endParaRPr lang="en-US" sz="3200" dirty="0"/>
          </a:p>
        </p:txBody>
      </p:sp>
      <p:sp>
        <p:nvSpPr>
          <p:cNvPr id="39" name="KPI ROAS - descrição"/>
          <p:cNvSpPr txBox="1"/>
          <p:nvPr/>
        </p:nvSpPr>
        <p:spPr>
          <a:xfrm>
            <a:off x="8356397" y="5212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Faturamento dividido pelo investimento em anúncios</a:t>
            </a:r>
            <a:endParaRPr lang="en-US" sz="1200" dirty="0"/>
          </a:p>
        </p:txBody>
      </p:sp>
      <p:sp>
        <p:nvSpPr>
          <p:cNvPr id="40" name="Nota de fontes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Faixas de referência para alimentação no Brasil (blogs de tráfego, 2026) e boas práticas de mercado. Use as 2 primeiras semanas para criar a linha de base da sua conta.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Erros que queimam verba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Seis armadilhas comuns em anúncios de doceria e o que fazer no lugar</a:t>
            </a:r>
            <a:endParaRPr lang="en-US" sz="1600" dirty="0"/>
          </a:p>
        </p:txBody>
      </p:sp>
      <p:sp>
        <p:nvSpPr>
          <p:cNvPr id="4" name="Cabeçalho em vez de"/>
          <p:cNvSpPr txBox="1"/>
          <p:nvPr/>
        </p:nvSpPr>
        <p:spPr>
          <a:xfrm>
            <a:off x="731520" y="17830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EM VEZ DE…</a:t>
            </a:r>
            <a:endParaRPr lang="en-US" sz="1200" dirty="0"/>
          </a:p>
        </p:txBody>
      </p:sp>
      <p:sp>
        <p:nvSpPr>
          <p:cNvPr id="5" name="Cabeçalho faça assim"/>
          <p:cNvSpPr txBox="1"/>
          <p:nvPr/>
        </p:nvSpPr>
        <p:spPr>
          <a:xfrm>
            <a:off x="6318504" y="1783080"/>
            <a:ext cx="5507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FAÇA ASSIM</a:t>
            </a:r>
            <a:endParaRPr lang="en-US" sz="1200" dirty="0"/>
          </a:p>
        </p:txBody>
      </p:sp>
      <p:sp>
        <p:nvSpPr>
          <p:cNvPr id="6" name="Erro 1"/>
          <p:cNvSpPr/>
          <p:nvPr/>
        </p:nvSpPr>
        <p:spPr>
          <a:xfrm>
            <a:off x="548640" y="2240280"/>
            <a:ext cx="4983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pic>
        <p:nvPicPr>
          <p:cNvPr id="7" name="Erro 1 - ícone" descr="Evi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95728"/>
            <a:ext cx="237744" cy="237744"/>
          </a:xfrm>
          <a:prstGeom prst="rect">
            <a:avLst/>
          </a:prstGeom>
        </p:spPr>
      </p:pic>
      <p:sp>
        <p:nvSpPr>
          <p:cNvPr id="8" name="Erro 1 - texto"/>
          <p:cNvSpPr txBox="1"/>
          <p:nvPr/>
        </p:nvSpPr>
        <p:spPr>
          <a:xfrm>
            <a:off x="1097280" y="2240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Impulsionar post pelo botão do Instagram</a:t>
            </a:r>
            <a:endParaRPr lang="en-US" sz="1400" dirty="0"/>
          </a:p>
        </p:txBody>
      </p:sp>
      <p:pic>
        <p:nvPicPr>
          <p:cNvPr id="9" name="Seta 1" descr="Em vez di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377440"/>
            <a:ext cx="274320" cy="274320"/>
          </a:xfrm>
          <a:prstGeom prst="rect">
            <a:avLst/>
          </a:prstGeom>
        </p:spPr>
      </p:pic>
      <p:sp>
        <p:nvSpPr>
          <p:cNvPr id="10" name="Acerto 1"/>
          <p:cNvSpPr/>
          <p:nvPr/>
        </p:nvSpPr>
        <p:spPr>
          <a:xfrm>
            <a:off x="6135624" y="2240280"/>
            <a:ext cx="5507431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11" name="Acerto 1 - ícone" descr="Faz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395728"/>
            <a:ext cx="237744" cy="237744"/>
          </a:xfrm>
          <a:prstGeom prst="rect">
            <a:avLst/>
          </a:prstGeom>
        </p:spPr>
      </p:pic>
      <p:sp>
        <p:nvSpPr>
          <p:cNvPr id="12" name="Acerto 1 - texto"/>
          <p:cNvSpPr txBox="1"/>
          <p:nvPr/>
        </p:nvSpPr>
        <p:spPr>
          <a:xfrm>
            <a:off x="6684264" y="2240280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Criar campanha no Gerenciador com objetivo de vendas ou mensagens</a:t>
            </a:r>
            <a:endParaRPr lang="en-US" sz="1400" dirty="0"/>
          </a:p>
        </p:txBody>
      </p:sp>
      <p:sp>
        <p:nvSpPr>
          <p:cNvPr id="13" name="Erro 2"/>
          <p:cNvSpPr/>
          <p:nvPr/>
        </p:nvSpPr>
        <p:spPr>
          <a:xfrm>
            <a:off x="548640" y="2880360"/>
            <a:ext cx="4983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pic>
        <p:nvPicPr>
          <p:cNvPr id="14" name="Erro 2 - ícone" descr="Evi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35808"/>
            <a:ext cx="237744" cy="237744"/>
          </a:xfrm>
          <a:prstGeom prst="rect">
            <a:avLst/>
          </a:prstGeom>
        </p:spPr>
      </p:pic>
      <p:sp>
        <p:nvSpPr>
          <p:cNvPr id="15" name="Erro 2 - texto"/>
          <p:cNvSpPr txBox="1"/>
          <p:nvPr/>
        </p:nvSpPr>
        <p:spPr>
          <a:xfrm>
            <a:off x="109728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Anunciar para São Paulo inteira</a:t>
            </a:r>
            <a:endParaRPr lang="en-US" sz="1400" dirty="0"/>
          </a:p>
        </p:txBody>
      </p:sp>
      <p:pic>
        <p:nvPicPr>
          <p:cNvPr id="16" name="Seta 2" descr="Em vez diss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3017520"/>
            <a:ext cx="274320" cy="274320"/>
          </a:xfrm>
          <a:prstGeom prst="rect">
            <a:avLst/>
          </a:prstGeom>
        </p:spPr>
      </p:pic>
      <p:sp>
        <p:nvSpPr>
          <p:cNvPr id="17" name="Acerto 2"/>
          <p:cNvSpPr/>
          <p:nvPr/>
        </p:nvSpPr>
        <p:spPr>
          <a:xfrm>
            <a:off x="6135624" y="2880360"/>
            <a:ext cx="5507431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18" name="Acerto 2 - ícone" descr="Faz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035808"/>
            <a:ext cx="237744" cy="237744"/>
          </a:xfrm>
          <a:prstGeom prst="rect">
            <a:avLst/>
          </a:prstGeom>
        </p:spPr>
      </p:pic>
      <p:sp>
        <p:nvSpPr>
          <p:cNvPr id="19" name="Acerto 2 - texto"/>
          <p:cNvSpPr txBox="1"/>
          <p:nvPr/>
        </p:nvSpPr>
        <p:spPr>
          <a:xfrm>
            <a:off x="6684264" y="2880360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raio de 3–6 km da loja ou da área de entrega</a:t>
            </a:r>
            <a:endParaRPr lang="en-US" sz="1400" dirty="0"/>
          </a:p>
        </p:txBody>
      </p:sp>
      <p:sp>
        <p:nvSpPr>
          <p:cNvPr id="20" name="Erro 3"/>
          <p:cNvSpPr/>
          <p:nvPr/>
        </p:nvSpPr>
        <p:spPr>
          <a:xfrm>
            <a:off x="548640" y="3520440"/>
            <a:ext cx="4983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pic>
        <p:nvPicPr>
          <p:cNvPr id="21" name="Erro 3 - ícone" descr="Evit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75888"/>
            <a:ext cx="237744" cy="237744"/>
          </a:xfrm>
          <a:prstGeom prst="rect">
            <a:avLst/>
          </a:prstGeom>
        </p:spPr>
      </p:pic>
      <p:sp>
        <p:nvSpPr>
          <p:cNvPr id="22" name="Erro 3 - texto"/>
          <p:cNvSpPr txBox="1"/>
          <p:nvPr/>
        </p:nvSpPr>
        <p:spPr>
          <a:xfrm>
            <a:off x="1097280" y="3520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Foto parada, escura e com fundo bagunçado</a:t>
            </a:r>
            <a:endParaRPr lang="en-US" sz="1400" dirty="0"/>
          </a:p>
        </p:txBody>
      </p:sp>
      <p:pic>
        <p:nvPicPr>
          <p:cNvPr id="23" name="Seta 3" descr="Em vez diss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6712" y="3657600"/>
            <a:ext cx="274320" cy="274320"/>
          </a:xfrm>
          <a:prstGeom prst="rect">
            <a:avLst/>
          </a:prstGeom>
        </p:spPr>
      </p:pic>
      <p:sp>
        <p:nvSpPr>
          <p:cNvPr id="24" name="Acerto 3"/>
          <p:cNvSpPr/>
          <p:nvPr/>
        </p:nvSpPr>
        <p:spPr>
          <a:xfrm>
            <a:off x="6135624" y="3520440"/>
            <a:ext cx="5507431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25" name="Acerto 3 - ícone" descr="Faz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8504" y="3675888"/>
            <a:ext cx="237744" cy="237744"/>
          </a:xfrm>
          <a:prstGeom prst="rect">
            <a:avLst/>
          </a:prstGeom>
        </p:spPr>
      </p:pic>
      <p:sp>
        <p:nvSpPr>
          <p:cNvPr id="26" name="Acerto 3 - texto"/>
          <p:cNvSpPr txBox="1"/>
          <p:nvPr/>
        </p:nvSpPr>
        <p:spPr>
          <a:xfrm>
            <a:off x="6684264" y="3520440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Vídeo vertical com luz natural e close no produto</a:t>
            </a:r>
            <a:endParaRPr lang="en-US" sz="1400" dirty="0"/>
          </a:p>
        </p:txBody>
      </p:sp>
      <p:sp>
        <p:nvSpPr>
          <p:cNvPr id="27" name="Erro 4"/>
          <p:cNvSpPr/>
          <p:nvPr/>
        </p:nvSpPr>
        <p:spPr>
          <a:xfrm>
            <a:off x="548640" y="4160520"/>
            <a:ext cx="4983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pic>
        <p:nvPicPr>
          <p:cNvPr id="28" name="Erro 4 - ícone" descr="Evit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315968"/>
            <a:ext cx="237744" cy="237744"/>
          </a:xfrm>
          <a:prstGeom prst="rect">
            <a:avLst/>
          </a:prstGeom>
        </p:spPr>
      </p:pic>
      <p:sp>
        <p:nvSpPr>
          <p:cNvPr id="29" name="Erro 4 - texto"/>
          <p:cNvSpPr txBox="1"/>
          <p:nvPr/>
        </p:nvSpPr>
        <p:spPr>
          <a:xfrm>
            <a:off x="109728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Mandar para o perfil sem nenhuma oferta</a:t>
            </a:r>
            <a:endParaRPr lang="en-US" sz="1400" dirty="0"/>
          </a:p>
        </p:txBody>
      </p:sp>
      <p:pic>
        <p:nvPicPr>
          <p:cNvPr id="30" name="Seta 4" descr="Em vez diss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6712" y="4297680"/>
            <a:ext cx="274320" cy="274320"/>
          </a:xfrm>
          <a:prstGeom prst="rect">
            <a:avLst/>
          </a:prstGeom>
        </p:spPr>
      </p:pic>
      <p:sp>
        <p:nvSpPr>
          <p:cNvPr id="31" name="Acerto 4"/>
          <p:cNvSpPr/>
          <p:nvPr/>
        </p:nvSpPr>
        <p:spPr>
          <a:xfrm>
            <a:off x="6135624" y="4160520"/>
            <a:ext cx="5507431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32" name="Acerto 4 - ícone" descr="Faz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8504" y="4315968"/>
            <a:ext cx="237744" cy="237744"/>
          </a:xfrm>
          <a:prstGeom prst="rect">
            <a:avLst/>
          </a:prstGeom>
        </p:spPr>
      </p:pic>
      <p:sp>
        <p:nvSpPr>
          <p:cNvPr id="33" name="Acerto 4 - texto"/>
          <p:cNvSpPr txBox="1"/>
          <p:nvPr/>
        </p:nvSpPr>
        <p:spPr>
          <a:xfrm>
            <a:off x="6684264" y="4160520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Levar direto ao WhatsApp ou iFood com oferta e chamada</a:t>
            </a:r>
            <a:endParaRPr lang="en-US" sz="1400" dirty="0"/>
          </a:p>
        </p:txBody>
      </p:sp>
      <p:sp>
        <p:nvSpPr>
          <p:cNvPr id="34" name="Erro 5"/>
          <p:cNvSpPr/>
          <p:nvPr/>
        </p:nvSpPr>
        <p:spPr>
          <a:xfrm>
            <a:off x="548640" y="4800600"/>
            <a:ext cx="4983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pic>
        <p:nvPicPr>
          <p:cNvPr id="35" name="Erro 5 - ícone" descr="Evita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956048"/>
            <a:ext cx="237744" cy="237744"/>
          </a:xfrm>
          <a:prstGeom prst="rect">
            <a:avLst/>
          </a:prstGeom>
        </p:spPr>
      </p:pic>
      <p:sp>
        <p:nvSpPr>
          <p:cNvPr id="36" name="Erro 5 - texto"/>
          <p:cNvSpPr txBox="1"/>
          <p:nvPr/>
        </p:nvSpPr>
        <p:spPr>
          <a:xfrm>
            <a:off x="1097280" y="4800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Mexer na campanha todo dia</a:t>
            </a:r>
            <a:endParaRPr lang="en-US" sz="1400" dirty="0"/>
          </a:p>
        </p:txBody>
      </p:sp>
      <p:pic>
        <p:nvPicPr>
          <p:cNvPr id="37" name="Seta 5" descr="Em vez diss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6712" y="4937760"/>
            <a:ext cx="274320" cy="274320"/>
          </a:xfrm>
          <a:prstGeom prst="rect">
            <a:avLst/>
          </a:prstGeom>
        </p:spPr>
      </p:pic>
      <p:sp>
        <p:nvSpPr>
          <p:cNvPr id="38" name="Acerto 5"/>
          <p:cNvSpPr/>
          <p:nvPr/>
        </p:nvSpPr>
        <p:spPr>
          <a:xfrm>
            <a:off x="6135624" y="4800600"/>
            <a:ext cx="5507431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39" name="Acerto 5 - ícone" descr="Fazer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8504" y="4956048"/>
            <a:ext cx="237744" cy="237744"/>
          </a:xfrm>
          <a:prstGeom prst="rect">
            <a:avLst/>
          </a:prstGeom>
        </p:spPr>
      </p:pic>
      <p:sp>
        <p:nvSpPr>
          <p:cNvPr id="40" name="Acerto 5 - texto"/>
          <p:cNvSpPr txBox="1"/>
          <p:nvPr/>
        </p:nvSpPr>
        <p:spPr>
          <a:xfrm>
            <a:off x="6684264" y="4800600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Esperar a fase de aprendizado (3–7 dias) antes de ajustar</a:t>
            </a:r>
            <a:endParaRPr lang="en-US" sz="1400" dirty="0"/>
          </a:p>
        </p:txBody>
      </p:sp>
      <p:sp>
        <p:nvSpPr>
          <p:cNvPr id="41" name="Erro 6"/>
          <p:cNvSpPr/>
          <p:nvPr/>
        </p:nvSpPr>
        <p:spPr>
          <a:xfrm>
            <a:off x="548640" y="5440680"/>
            <a:ext cx="4983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pic>
        <p:nvPicPr>
          <p:cNvPr id="42" name="Erro 6 - ícone" descr="Evitar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" y="5596128"/>
            <a:ext cx="237744" cy="237744"/>
          </a:xfrm>
          <a:prstGeom prst="rect">
            <a:avLst/>
          </a:prstGeom>
        </p:spPr>
      </p:pic>
      <p:sp>
        <p:nvSpPr>
          <p:cNvPr id="43" name="Erro 6 - texto"/>
          <p:cNvSpPr txBox="1"/>
          <p:nvPr/>
        </p:nvSpPr>
        <p:spPr>
          <a:xfrm>
            <a:off x="1097280" y="5440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sucesso por curtidas</a:t>
            </a:r>
            <a:endParaRPr lang="en-US" sz="1400" dirty="0"/>
          </a:p>
        </p:txBody>
      </p:sp>
      <p:pic>
        <p:nvPicPr>
          <p:cNvPr id="44" name="Seta 6" descr="Em vez diss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6712" y="5577840"/>
            <a:ext cx="274320" cy="274320"/>
          </a:xfrm>
          <a:prstGeom prst="rect">
            <a:avLst/>
          </a:prstGeom>
        </p:spPr>
      </p:pic>
      <p:sp>
        <p:nvSpPr>
          <p:cNvPr id="45" name="Acerto 6"/>
          <p:cNvSpPr/>
          <p:nvPr/>
        </p:nvSpPr>
        <p:spPr>
          <a:xfrm>
            <a:off x="6135624" y="5440680"/>
            <a:ext cx="5507431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46" name="Acerto 6 - ícone" descr="Fazer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8504" y="5596128"/>
            <a:ext cx="237744" cy="237744"/>
          </a:xfrm>
          <a:prstGeom prst="rect">
            <a:avLst/>
          </a:prstGeom>
        </p:spPr>
      </p:pic>
      <p:sp>
        <p:nvSpPr>
          <p:cNvPr id="47" name="Acerto 6 - texto"/>
          <p:cNvSpPr txBox="1"/>
          <p:nvPr/>
        </p:nvSpPr>
        <p:spPr>
          <a:xfrm>
            <a:off x="6684264" y="5440680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pedidos: cupom por canal e links rastreados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Próximos passos</a:t>
            </a:r>
            <a:endParaRPr lang="en-US" sz="4000" dirty="0"/>
          </a:p>
        </p:txBody>
      </p:sp>
      <p:sp>
        <p:nvSpPr>
          <p:cNvPr id="3" name="Passo 1 - círculo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asso 1 - número"/>
          <p:cNvSpPr txBox="1"/>
          <p:nvPr/>
        </p:nvSpPr>
        <p:spPr>
          <a:xfrm>
            <a:off x="54864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Passo 1 - texto"/>
          <p:cNvSpPr txBox="1"/>
          <p:nvPr/>
        </p:nvSpPr>
        <p:spPr>
          <a:xfrm>
            <a:off x="1508760" y="16916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Definir a verba do 1º mês e a meta de CPA</a:t>
            </a:r>
            <a:endParaRPr lang="en-US" sz="2000" dirty="0"/>
          </a:p>
        </p:txBody>
      </p:sp>
      <p:sp>
        <p:nvSpPr>
          <p:cNvPr id="6" name="Passo 2 - círculo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asso 2 - número"/>
          <p:cNvSpPr txBox="1"/>
          <p:nvPr/>
        </p:nvSpPr>
        <p:spPr>
          <a:xfrm>
            <a:off x="54864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Passo 2 - texto"/>
          <p:cNvSpPr txBox="1"/>
          <p:nvPr/>
        </p:nvSpPr>
        <p:spPr>
          <a:xfrm>
            <a:off x="1508760" y="28803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Gravar o primeiro lote de 8 a 12 vídeos</a:t>
            </a:r>
            <a:endParaRPr lang="en-US" sz="2000" dirty="0"/>
          </a:p>
        </p:txBody>
      </p:sp>
      <p:sp>
        <p:nvSpPr>
          <p:cNvPr id="9" name="Passo 3 - círculo"/>
          <p:cNvSpPr/>
          <p:nvPr/>
        </p:nvSpPr>
        <p:spPr>
          <a:xfrm>
            <a:off x="548640" y="4069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asso 3 - número"/>
          <p:cNvSpPr txBox="1"/>
          <p:nvPr/>
        </p:nvSpPr>
        <p:spPr>
          <a:xfrm>
            <a:off x="548640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Passo 3 - texto"/>
          <p:cNvSpPr txBox="1"/>
          <p:nvPr/>
        </p:nvSpPr>
        <p:spPr>
          <a:xfrm>
            <a:off x="1508760" y="40690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Configurar Pixel, API de Conversões, Google e WhatsApp Business</a:t>
            </a:r>
            <a:endParaRPr lang="en-US" sz="2000" dirty="0"/>
          </a:p>
        </p:txBody>
      </p:sp>
      <p:sp>
        <p:nvSpPr>
          <p:cNvPr id="12" name="Passo 4 - círculo"/>
          <p:cNvSpPr/>
          <p:nvPr/>
        </p:nvSpPr>
        <p:spPr>
          <a:xfrm>
            <a:off x="548640" y="5257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asso 4 - número"/>
          <p:cNvSpPr txBox="1"/>
          <p:nvPr/>
        </p:nvSpPr>
        <p:spPr>
          <a:xfrm>
            <a:off x="548640" y="5257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Passo 4 - texto"/>
          <p:cNvSpPr txBox="1"/>
          <p:nvPr/>
        </p:nvSpPr>
        <p:spPr>
          <a:xfrm>
            <a:off x="1508760" y="52578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Lançar as campanhas e revisar os números toda segunda-feira</a:t>
            </a:r>
            <a:endParaRPr lang="en-US" sz="2000" dirty="0"/>
          </a:p>
        </p:txBody>
      </p:sp>
      <p:sp>
        <p:nvSpPr>
          <p:cNvPr id="15" name="Próximas datas"/>
          <p:cNvSpPr/>
          <p:nvPr/>
        </p:nvSpPr>
        <p:spPr>
          <a:xfrm>
            <a:off x="7818120" y="1691640"/>
            <a:ext cx="3824935" cy="4251960"/>
          </a:xfrm>
          <a:prstGeom prst="roundRect">
            <a:avLst>
              <a:gd name="adj" fmla="val 2869"/>
            </a:avLst>
          </a:prstGeom>
          <a:solidFill>
            <a:schemeClr val="accent3"/>
          </a:solidFill>
          <a:ln/>
        </p:spPr>
      </p:sp>
      <p:sp>
        <p:nvSpPr>
          <p:cNvPr id="16" name="Próximas datas - círculo"/>
          <p:cNvSpPr/>
          <p:nvPr/>
        </p:nvSpPr>
        <p:spPr>
          <a:xfrm>
            <a:off x="8138160" y="2011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Próximas datas - ícone" descr="Próximas da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1779" y="2165299"/>
            <a:ext cx="332842" cy="332842"/>
          </a:xfrm>
          <a:prstGeom prst="rect">
            <a:avLst/>
          </a:prstGeom>
        </p:spPr>
      </p:pic>
      <p:sp>
        <p:nvSpPr>
          <p:cNvPr id="18" name="Próximas datas - título"/>
          <p:cNvSpPr txBox="1"/>
          <p:nvPr/>
        </p:nvSpPr>
        <p:spPr>
          <a:xfrm>
            <a:off x="8961120" y="2011680"/>
            <a:ext cx="2453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Próximas oportunidades</a:t>
            </a:r>
            <a:endParaRPr lang="en-US" sz="1800" dirty="0"/>
          </a:p>
        </p:txBody>
      </p:sp>
      <p:sp>
        <p:nvSpPr>
          <p:cNvPr id="19" name="Data Black Friday"/>
          <p:cNvSpPr txBox="1"/>
          <p:nvPr/>
        </p:nvSpPr>
        <p:spPr>
          <a:xfrm>
            <a:off x="8138160" y="3017520"/>
            <a:ext cx="3184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Black Friday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27/11/2026</a:t>
            </a:r>
            <a:endParaRPr lang="en-US" sz="1400" dirty="0"/>
          </a:p>
        </p:txBody>
      </p:sp>
      <p:sp>
        <p:nvSpPr>
          <p:cNvPr id="20" name="Data Natal e Réveillon"/>
          <p:cNvSpPr txBox="1"/>
          <p:nvPr/>
        </p:nvSpPr>
        <p:spPr>
          <a:xfrm>
            <a:off x="8138160" y="3931920"/>
            <a:ext cx="3184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Natal e Réveillon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dezembro</a:t>
            </a:r>
            <a:endParaRPr lang="en-US" sz="1400" dirty="0"/>
          </a:p>
        </p:txBody>
      </p:sp>
      <p:sp>
        <p:nvSpPr>
          <p:cNvPr id="21" name="Data Páscoa 2027"/>
          <p:cNvSpPr txBox="1"/>
          <p:nvPr/>
        </p:nvSpPr>
        <p:spPr>
          <a:xfrm>
            <a:off x="8138160" y="4846320"/>
            <a:ext cx="3184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Páscoa 2027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28/03 · pré-venda em fevereiro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eria SP">
  <a:themeElements>
    <a:clrScheme name="Doceria SP">
      <a:dk1>
        <a:srgbClr val="2B1712"/>
      </a:dk1>
      <a:lt1>
        <a:srgbClr val="FFFFFF"/>
      </a:lt1>
      <a:dk2>
        <a:srgbClr val="6B4A40"/>
      </a:dk2>
      <a:lt2>
        <a:srgbClr val="FCEEF2"/>
      </a:lt2>
      <a:accent1>
        <a:srgbClr val="C2255C"/>
      </a:accent1>
      <a:accent2>
        <a:srgbClr val="E8A33D"/>
      </a:accent2>
      <a:accent3>
        <a:srgbClr val="8B5E3C"/>
      </a:accent3>
      <a:accent4>
        <a:srgbClr val="F4B6C8"/>
      </a:accent4>
      <a:accent5>
        <a:srgbClr val="2F7D6D"/>
      </a:accent5>
      <a:accent6>
        <a:srgbClr val="7B4F9D"/>
      </a:accent6>
      <a:hlink>
        <a:srgbClr val="C2255C"/>
      </a:hlink>
      <a:folHlink>
        <a:srgbClr val="7B4F9D"/>
      </a:folHlink>
    </a:clrScheme>
    <a:fontScheme name="Doceria S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Tráfego pago para doceria em São Paulo</dc:title>
  <dc:subject>Estratégia de tráfego pago para doceria em São Paulo</dc:subject>
  <dc:creator>Claude</dc:creator>
  <cp:lastModifiedBy>Claude</cp:lastModifiedBy>
  <cp:revision>1</cp:revision>
  <dcterms:created xsi:type="dcterms:W3CDTF">2026-10-21T18:56:19Z</dcterms:created>
  <dcterms:modified xsi:type="dcterms:W3CDTF">2026-10-21T18:56:19Z</dcterms:modified>
</cp:coreProperties>
</file>